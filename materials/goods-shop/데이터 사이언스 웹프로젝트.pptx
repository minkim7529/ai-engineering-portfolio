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4"/>
  </p:handoutMasterIdLst>
  <p:sldIdLst>
    <p:sldId id="257" r:id="rId2"/>
    <p:sldId id="262" r:id="rId3"/>
    <p:sldId id="260" r:id="rId4"/>
    <p:sldId id="276" r:id="rId5"/>
    <p:sldId id="290" r:id="rId6"/>
    <p:sldId id="275" r:id="rId7"/>
    <p:sldId id="291" r:id="rId8"/>
    <p:sldId id="288" r:id="rId9"/>
    <p:sldId id="292" r:id="rId10"/>
    <p:sldId id="296" r:id="rId11"/>
    <p:sldId id="300" r:id="rId12"/>
    <p:sldId id="307" r:id="rId13"/>
    <p:sldId id="308" r:id="rId14"/>
    <p:sldId id="309" r:id="rId15"/>
    <p:sldId id="287" r:id="rId16"/>
    <p:sldId id="301" r:id="rId17"/>
    <p:sldId id="293" r:id="rId18"/>
    <p:sldId id="306" r:id="rId19"/>
    <p:sldId id="294" r:id="rId20"/>
    <p:sldId id="283" r:id="rId21"/>
    <p:sldId id="273" r:id="rId22"/>
    <p:sldId id="268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BAD0"/>
    <a:srgbClr val="F9EAE7"/>
    <a:srgbClr val="D1CCC5"/>
    <a:srgbClr val="B2AA9F"/>
    <a:srgbClr val="A2978D"/>
    <a:srgbClr val="D7DBDC"/>
    <a:srgbClr val="6C9CC2"/>
    <a:srgbClr val="C6BBCA"/>
    <a:srgbClr val="7593B9"/>
    <a:srgbClr val="F5D8D3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86" y="77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20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8C09E9D-FB04-7A18-FC73-6472244429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EB7FA1-1EAE-DB6C-1438-9CC5A5FF2D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D44A0-518A-44F4-84C4-539C358B6A04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16E84A3-DAE7-3B3A-581B-CDA1DE0772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420C82-52AE-5FE5-FD36-A7A3B8543C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695396-DF27-4A15-AC15-B1B02B6031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7351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01103A-7397-009C-DD5F-754361CB9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D20FB2F-5154-484C-FC73-B7BBB88A8B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58877A-2951-2459-7987-380456120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1663-7C2A-42E9-8AF3-A2BF2206EF26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7D1883-F8E5-2F3F-C599-6240F8387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FD23E0-D721-7323-D71E-44D94C3AF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39CB-7778-48FC-80BF-AB553563C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149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C5665A-4322-36A8-5811-3C193458B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B8D1DD-4390-964F-34DF-2DB71D373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12E807-FD77-B12E-74A5-7E840CC14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1663-7C2A-42E9-8AF3-A2BF2206EF26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AC5B82-0135-5247-263A-23FE3336C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D40D6F-B926-AED6-1EC7-2EEE56148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39CB-7778-48FC-80BF-AB553563C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871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EFE2DA-528A-0D64-81A7-2E524222F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0321BA-2D83-A110-BB39-F0A139D03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C3D8C0-CE7E-A5B1-43DB-E50851FC8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1663-7C2A-42E9-8AF3-A2BF2206EF26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821D15-009E-A9E2-53B6-79F1140CE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3C38E3-F122-973F-5545-BC1B1772A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39CB-7778-48FC-80BF-AB553563C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10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6FABA6-42F2-C937-D62A-77D8BE96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D1AB73-E6B8-C378-B41F-5755AE95F0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7A754F-F371-095B-E607-2C877861D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2A1F9A-E063-386C-BE15-2B18785ED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1663-7C2A-42E9-8AF3-A2BF2206EF26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D5D7AA-9577-AEBC-1DBE-74A1103DD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19AF0F-C251-A4B3-7CD7-990D0B1FA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39CB-7778-48FC-80BF-AB553563C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828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16B501-E00B-291A-8B84-D1FA8B408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146715-B2E4-96BF-7669-983F58F5F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6D76B2-41AE-2794-5CA2-480BEC521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114CF1D-1A6E-EF99-F7E6-DABAC33B5F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CBEB468-26FA-A980-BF7D-F0B0F31557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28DE0C-BEC9-B305-9D44-0FA299498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1663-7C2A-42E9-8AF3-A2BF2206EF26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7EE0E16-BDC1-B203-F6AC-DF7EFC42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AC40DDC-29B0-357F-11AB-00BDBF03B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39CB-7778-48FC-80BF-AB553563C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865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C52CD-BE2D-9C79-256A-8403A0B73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C8A864A-BA24-9EC8-82AE-D2AA9BE7E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1663-7C2A-42E9-8AF3-A2BF2206EF26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2FE2A7-9E89-C8F1-02A0-1D22B94F7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2FEC4C-CF4C-48FC-9708-DE4A679D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39CB-7778-48FC-80BF-AB553563C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714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C7CDD9-022D-2F2D-1E17-994180C34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1663-7C2A-42E9-8AF3-A2BF2206EF26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4AC3038-9448-A567-0EA5-7E6DE02CE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BE6244-00E9-F849-A2C6-DDC755980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39CB-7778-48FC-80BF-AB553563C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534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C7CDD9-022D-2F2D-1E17-994180C34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1663-7C2A-42E9-8AF3-A2BF2206EF26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4AC3038-9448-A567-0EA5-7E6DE02CE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BE6244-00E9-F849-A2C6-DDC755980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39CB-7778-48FC-80BF-AB553563C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81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022ED2-9E4B-6CF9-27F4-542A7B0DA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CEA536-C101-10F2-AAA2-8655E666C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E2EA8F-74CC-8E7D-B11D-55D25CB50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312E5E-87F3-A546-C46E-F618D05F1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1663-7C2A-42E9-8AF3-A2BF2206EF26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0420B9-CA0F-EA3D-0764-B82DB5972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5EFBAF-4893-3D99-8763-3BA21EB79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39CB-7778-48FC-80BF-AB553563C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1369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5456F2-119A-494E-63F4-8E49B516E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068A0B4-4FE3-A4CD-A9D4-77A823534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3DDC89-B861-6692-9208-D4592B342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7F4A45-2291-C8EF-B19A-253B68786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1663-7C2A-42E9-8AF3-A2BF2206EF26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09E998-CCE6-8F1C-B8F0-6EEB7B0E7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8FC3D4-2A4B-82F3-3D82-C97C3E736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39CB-7778-48FC-80BF-AB553563C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056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20569B-273F-CFC3-E056-C52489629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E7BBF8-2B09-33FB-B05D-8DBC36DA4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7B9767-B890-6D38-1CFA-6EBAD1DE2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1663-7C2A-42E9-8AF3-A2BF2206EF26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3B00C5-23E7-605E-2F37-65226F286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3BF979-D39C-67DC-2B99-A3E90ED5A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39CB-7778-48FC-80BF-AB553563C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256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3032E4-D1DF-8A15-6FAC-C9A61A493E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60BFE6-7C59-92B7-FF9A-B9B28777D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2F91D2-6E29-697C-F9FF-694B432AD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B1663-7C2A-42E9-8AF3-A2BF2206EF26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081BD2-465B-68EA-2924-5554CF0DD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DE87B9-91DD-75B8-1EF6-2FF113287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39CB-7778-48FC-80BF-AB553563C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253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BAF7759-6F6C-C594-5A80-FE323A42A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064223-0AE9-4CEB-02AC-8EEAE2A15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412F4D-662B-865D-90ED-1160E3FCD6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B1663-7C2A-42E9-8AF3-A2BF2206EF26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A83461-97E4-F9C7-509F-5FC359F86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A9DD75-A437-4112-42DC-768E5A1A49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F39CB-7778-48FC-80BF-AB553563C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63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../&#52311;&#48391;%20&#54532;&#47196;&#53664;&#53440;&#51077;.ipynb" TargetMode="External"/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거품이(가) 표시된 사진&#10;&#10;자동 생성된 설명">
            <a:extLst>
              <a:ext uri="{FF2B5EF4-FFF2-40B4-BE49-F238E27FC236}">
                <a16:creationId xmlns:a16="http://schemas.microsoft.com/office/drawing/2014/main" id="{14996ED0-AA26-AADC-22AB-2D6CBA46D5C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463DC9-176E-30B9-F3D2-D1FC4CCB6E00}"/>
              </a:ext>
            </a:extLst>
          </p:cNvPr>
          <p:cNvSpPr txBox="1"/>
          <p:nvPr/>
        </p:nvSpPr>
        <p:spPr>
          <a:xfrm>
            <a:off x="973707" y="967782"/>
            <a:ext cx="9474068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500" b="1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Goods</a:t>
            </a:r>
            <a:r>
              <a:rPr lang="ko-KR" altLang="en-US" sz="11500" b="1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z="11500" b="1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shop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EF1A3FF-F9A6-6A9C-BBC7-7B6855EEE107}"/>
              </a:ext>
            </a:extLst>
          </p:cNvPr>
          <p:cNvCxnSpPr>
            <a:cxnSpLocks/>
          </p:cNvCxnSpPr>
          <p:nvPr/>
        </p:nvCxnSpPr>
        <p:spPr>
          <a:xfrm>
            <a:off x="6570944" y="4051456"/>
            <a:ext cx="5694947" cy="0"/>
          </a:xfrm>
          <a:prstGeom prst="line">
            <a:avLst/>
          </a:prstGeom>
          <a:ln w="203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FA6A340-B3A4-5985-41E8-C5CF54D5759E}"/>
              </a:ext>
            </a:extLst>
          </p:cNvPr>
          <p:cNvSpPr txBox="1"/>
          <p:nvPr/>
        </p:nvSpPr>
        <p:spPr>
          <a:xfrm>
            <a:off x="8089155" y="4287177"/>
            <a:ext cx="3796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자바 웹 프로젝트</a:t>
            </a:r>
            <a:endParaRPr lang="ko-KR" altLang="en-US" sz="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9C34DF-AF99-DB89-C374-70F4ECD3F1A4}"/>
              </a:ext>
            </a:extLst>
          </p:cNvPr>
          <p:cNvSpPr txBox="1"/>
          <p:nvPr/>
        </p:nvSpPr>
        <p:spPr>
          <a:xfrm>
            <a:off x="8089155" y="5383489"/>
            <a:ext cx="37961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대구대 </a:t>
            </a:r>
            <a:r>
              <a:rPr lang="en-US" altLang="ko-KR" sz="3600" b="1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AI</a:t>
            </a:r>
            <a:r>
              <a:rPr lang="ko-KR" altLang="en-US" sz="3600" b="1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학과</a:t>
            </a:r>
            <a:endParaRPr lang="en-US" altLang="ko-KR" sz="3600" b="1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sz="3600" b="1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김민석</a:t>
            </a:r>
            <a:endParaRPr lang="ko-KR" altLang="en-US" sz="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5274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4D9590F-9302-1B4B-63A0-401B4B093250}"/>
              </a:ext>
            </a:extLst>
          </p:cNvPr>
          <p:cNvSpPr txBox="1"/>
          <p:nvPr/>
        </p:nvSpPr>
        <p:spPr>
          <a:xfrm>
            <a:off x="473242" y="468563"/>
            <a:ext cx="716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목차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E5FC885-7B71-E7F7-1576-91D4770D4C31}"/>
              </a:ext>
            </a:extLst>
          </p:cNvPr>
          <p:cNvCxnSpPr>
            <a:cxnSpLocks/>
          </p:cNvCxnSpPr>
          <p:nvPr/>
        </p:nvCxnSpPr>
        <p:spPr>
          <a:xfrm>
            <a:off x="2390567" y="699395"/>
            <a:ext cx="980143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5830DE6-55D9-DCAF-4A6C-07F5BA0137A9}"/>
              </a:ext>
            </a:extLst>
          </p:cNvPr>
          <p:cNvSpPr txBox="1"/>
          <p:nvPr/>
        </p:nvSpPr>
        <p:spPr>
          <a:xfrm>
            <a:off x="1427200" y="1443561"/>
            <a:ext cx="35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24BA82-8190-BB65-EB75-7AE3E1F51236}"/>
              </a:ext>
            </a:extLst>
          </p:cNvPr>
          <p:cNvSpPr txBox="1"/>
          <p:nvPr/>
        </p:nvSpPr>
        <p:spPr>
          <a:xfrm>
            <a:off x="2298204" y="1520505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pc="6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기획의도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8E5067-67D5-09A2-7FA1-777CBC3A2FFA}"/>
              </a:ext>
            </a:extLst>
          </p:cNvPr>
          <p:cNvSpPr txBox="1"/>
          <p:nvPr/>
        </p:nvSpPr>
        <p:spPr>
          <a:xfrm>
            <a:off x="1401552" y="2162162"/>
            <a:ext cx="404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DA354F-8FF7-A69B-74C3-2E0DD902FDC5}"/>
              </a:ext>
            </a:extLst>
          </p:cNvPr>
          <p:cNvSpPr txBox="1"/>
          <p:nvPr/>
        </p:nvSpPr>
        <p:spPr>
          <a:xfrm>
            <a:off x="2287614" y="2279531"/>
            <a:ext cx="4445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pc="6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사용한  개발언어 </a:t>
            </a:r>
            <a:r>
              <a:rPr lang="en-US" altLang="ko-KR" spc="6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&amp; </a:t>
            </a:r>
            <a:r>
              <a:rPr lang="ko-KR" altLang="en-US" spc="6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프로그램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7AD924-3AED-AAA2-2CA0-4512299E45AC}"/>
              </a:ext>
            </a:extLst>
          </p:cNvPr>
          <p:cNvSpPr txBox="1"/>
          <p:nvPr/>
        </p:nvSpPr>
        <p:spPr>
          <a:xfrm>
            <a:off x="1396743" y="3047017"/>
            <a:ext cx="413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1C25A1-5539-6729-3EFF-4CB018E3C4DB}"/>
              </a:ext>
            </a:extLst>
          </p:cNvPr>
          <p:cNvSpPr txBox="1"/>
          <p:nvPr/>
        </p:nvSpPr>
        <p:spPr>
          <a:xfrm>
            <a:off x="2298204" y="3123961"/>
            <a:ext cx="2776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pc="6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프로젝트 요구사항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31631F-1789-1769-B9D3-796BDF54EA11}"/>
              </a:ext>
            </a:extLst>
          </p:cNvPr>
          <p:cNvSpPr txBox="1"/>
          <p:nvPr/>
        </p:nvSpPr>
        <p:spPr>
          <a:xfrm>
            <a:off x="1393537" y="4033472"/>
            <a:ext cx="4203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A311BA-E1C8-62C6-644C-0F40819CE9CF}"/>
              </a:ext>
            </a:extLst>
          </p:cNvPr>
          <p:cNvSpPr txBox="1"/>
          <p:nvPr/>
        </p:nvSpPr>
        <p:spPr>
          <a:xfrm>
            <a:off x="2298204" y="41104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pc="6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주요화면소개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B2C9C0-6AC6-A05B-4BF0-D25A5708CF1F}"/>
              </a:ext>
            </a:extLst>
          </p:cNvPr>
          <p:cNvSpPr txBox="1"/>
          <p:nvPr/>
        </p:nvSpPr>
        <p:spPr>
          <a:xfrm>
            <a:off x="1124505" y="576284"/>
            <a:ext cx="12554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</a:rPr>
              <a:t>a table of contents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57F4E0-88A1-669F-913D-A562AE63C7E7}"/>
              </a:ext>
            </a:extLst>
          </p:cNvPr>
          <p:cNvSpPr txBox="1"/>
          <p:nvPr/>
        </p:nvSpPr>
        <p:spPr>
          <a:xfrm>
            <a:off x="1446437" y="492922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15D37F-11D1-57D1-4D92-219CB5196A7F}"/>
              </a:ext>
            </a:extLst>
          </p:cNvPr>
          <p:cNvSpPr txBox="1"/>
          <p:nvPr/>
        </p:nvSpPr>
        <p:spPr>
          <a:xfrm>
            <a:off x="2376710" y="5029429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pc="6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시연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1D2A8A-FDE3-93F2-72A9-7BCB0D7E447A}"/>
              </a:ext>
            </a:extLst>
          </p:cNvPr>
          <p:cNvSpPr txBox="1"/>
          <p:nvPr/>
        </p:nvSpPr>
        <p:spPr>
          <a:xfrm>
            <a:off x="1427200" y="580651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</a:rPr>
              <a:t>6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5E8357-9E47-21AC-60A0-83EAF3EE5112}"/>
              </a:ext>
            </a:extLst>
          </p:cNvPr>
          <p:cNvSpPr txBox="1"/>
          <p:nvPr/>
        </p:nvSpPr>
        <p:spPr>
          <a:xfrm>
            <a:off x="2358241" y="5883456"/>
            <a:ext cx="2810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pc="6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느낀 점</a:t>
            </a:r>
            <a:r>
              <a:rPr lang="en-US" altLang="ko-KR" spc="6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pc="6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개선사항</a:t>
            </a:r>
          </a:p>
        </p:txBody>
      </p:sp>
    </p:spTree>
    <p:extLst>
      <p:ext uri="{BB962C8B-B14F-4D97-AF65-F5344CB8AC3E}">
        <p14:creationId xmlns:p14="http://schemas.microsoft.com/office/powerpoint/2010/main" val="488589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E56937B-FD6E-33C5-CF71-0693438652A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0F16938-4AB3-C31E-90F7-0E878D78B7DF}"/>
              </a:ext>
            </a:extLst>
          </p:cNvPr>
          <p:cNvSpPr/>
          <p:nvPr/>
        </p:nvSpPr>
        <p:spPr>
          <a:xfrm>
            <a:off x="0" y="9435"/>
            <a:ext cx="12192000" cy="6858000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양쪽 대괄호 4">
            <a:extLst>
              <a:ext uri="{FF2B5EF4-FFF2-40B4-BE49-F238E27FC236}">
                <a16:creationId xmlns:a16="http://schemas.microsoft.com/office/drawing/2014/main" id="{A85AD9A1-C6CD-390A-EC4C-B0EF5C170030}"/>
              </a:ext>
            </a:extLst>
          </p:cNvPr>
          <p:cNvSpPr/>
          <p:nvPr/>
        </p:nvSpPr>
        <p:spPr>
          <a:xfrm>
            <a:off x="1026695" y="2342148"/>
            <a:ext cx="10299031" cy="2197768"/>
          </a:xfrm>
          <a:prstGeom prst="bracketPair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99F7BD-985D-25E8-0155-602A31D9B744}"/>
              </a:ext>
            </a:extLst>
          </p:cNvPr>
          <p:cNvSpPr txBox="1"/>
          <p:nvPr/>
        </p:nvSpPr>
        <p:spPr>
          <a:xfrm>
            <a:off x="5385709" y="2823410"/>
            <a:ext cx="1420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spc="600" dirty="0">
                <a:solidFill>
                  <a:schemeClr val="bg1"/>
                </a:solidFill>
              </a:rPr>
              <a:t>Part 1</a:t>
            </a:r>
            <a:endParaRPr lang="ko-KR" altLang="en-US" sz="2400" spc="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0D104D-2799-1AAD-000E-28652FD45B3B}"/>
              </a:ext>
            </a:extLst>
          </p:cNvPr>
          <p:cNvSpPr txBox="1"/>
          <p:nvPr/>
        </p:nvSpPr>
        <p:spPr>
          <a:xfrm>
            <a:off x="4942482" y="3438435"/>
            <a:ext cx="2307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b="1" spc="6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기획의도</a:t>
            </a:r>
          </a:p>
        </p:txBody>
      </p:sp>
    </p:spTree>
    <p:extLst>
      <p:ext uri="{BB962C8B-B14F-4D97-AF65-F5344CB8AC3E}">
        <p14:creationId xmlns:p14="http://schemas.microsoft.com/office/powerpoint/2010/main" val="3535878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6CB7179-2CED-698E-7489-BBBF08E1F63C}"/>
              </a:ext>
            </a:extLst>
          </p:cNvPr>
          <p:cNvSpPr/>
          <p:nvPr/>
        </p:nvSpPr>
        <p:spPr>
          <a:xfrm>
            <a:off x="272715" y="0"/>
            <a:ext cx="802105" cy="7527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A721A3-5D9B-A549-DF5D-D0547EE5B424}"/>
              </a:ext>
            </a:extLst>
          </p:cNvPr>
          <p:cNvSpPr txBox="1"/>
          <p:nvPr/>
        </p:nvSpPr>
        <p:spPr>
          <a:xfrm>
            <a:off x="1176688" y="137160"/>
            <a:ext cx="5068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Part 1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FEF442-2E39-E8A3-0720-B4AF147BC24A}"/>
              </a:ext>
            </a:extLst>
          </p:cNvPr>
          <p:cNvSpPr txBox="1"/>
          <p:nvPr/>
        </p:nvSpPr>
        <p:spPr>
          <a:xfrm>
            <a:off x="1176688" y="383381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기획의도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ECD3E47C-6CD2-75A6-AB73-7E3BB33740BE}"/>
              </a:ext>
            </a:extLst>
          </p:cNvPr>
          <p:cNvCxnSpPr/>
          <p:nvPr/>
        </p:nvCxnSpPr>
        <p:spPr>
          <a:xfrm>
            <a:off x="6096000" y="3148199"/>
            <a:ext cx="51562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9933245-669F-18B5-8936-0FA4BEC44776}"/>
              </a:ext>
            </a:extLst>
          </p:cNvPr>
          <p:cNvSpPr txBox="1"/>
          <p:nvPr/>
        </p:nvSpPr>
        <p:spPr>
          <a:xfrm>
            <a:off x="6321286" y="2470634"/>
            <a:ext cx="4405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망그러진</a:t>
            </a:r>
            <a:r>
              <a: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곰 카카오톡 이모티콘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E31D278-B6E8-AF53-1BBA-D3FF6D29A2D2}"/>
              </a:ext>
            </a:extLst>
          </p:cNvPr>
          <p:cNvSpPr txBox="1"/>
          <p:nvPr/>
        </p:nvSpPr>
        <p:spPr>
          <a:xfrm>
            <a:off x="6321286" y="3416520"/>
            <a:ext cx="4930914" cy="1657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평소 좋아하는 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이모티콘에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관련된 상품을 찾아보던 중 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굿즈를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판매하는 정보를 알게 되었고 오프라인으로만 판매가 진행된다는 것을 알 수 있었습니다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그래서 온라인 판매는 없었기 때문에 이번 기회에 온라인 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굿즈샵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웹사이트를 대신 만들어 보기로 기획하게 되었습니다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8" name="그림 7" descr="텍스트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F13A82CB-3973-843C-D2E4-F76CF0BC12C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820" y="1699491"/>
            <a:ext cx="3238499" cy="431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89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E56937B-FD6E-33C5-CF71-0693438652A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0F16938-4AB3-C31E-90F7-0E878D78B7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양쪽 대괄호 4">
            <a:extLst>
              <a:ext uri="{FF2B5EF4-FFF2-40B4-BE49-F238E27FC236}">
                <a16:creationId xmlns:a16="http://schemas.microsoft.com/office/drawing/2014/main" id="{A85AD9A1-C6CD-390A-EC4C-B0EF5C170030}"/>
              </a:ext>
            </a:extLst>
          </p:cNvPr>
          <p:cNvSpPr/>
          <p:nvPr/>
        </p:nvSpPr>
        <p:spPr>
          <a:xfrm>
            <a:off x="1026695" y="2342148"/>
            <a:ext cx="10299031" cy="2197768"/>
          </a:xfrm>
          <a:prstGeom prst="bracketPair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99F7BD-985D-25E8-0155-602A31D9B744}"/>
              </a:ext>
            </a:extLst>
          </p:cNvPr>
          <p:cNvSpPr txBox="1"/>
          <p:nvPr/>
        </p:nvSpPr>
        <p:spPr>
          <a:xfrm>
            <a:off x="5405843" y="2823410"/>
            <a:ext cx="1380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spc="600" dirty="0">
                <a:solidFill>
                  <a:schemeClr val="bg1"/>
                </a:solidFill>
              </a:rPr>
              <a:t>Part 2</a:t>
            </a:r>
            <a:endParaRPr lang="ko-KR" altLang="en-US" sz="2400" spc="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0D104D-2799-1AAD-000E-28652FD45B3B}"/>
              </a:ext>
            </a:extLst>
          </p:cNvPr>
          <p:cNvSpPr txBox="1"/>
          <p:nvPr/>
        </p:nvSpPr>
        <p:spPr>
          <a:xfrm>
            <a:off x="3435661" y="3438435"/>
            <a:ext cx="5320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b="1" spc="6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개발언어 </a:t>
            </a:r>
            <a:r>
              <a:rPr lang="en-US" altLang="ko-KR" sz="3600" b="1" spc="6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&amp; </a:t>
            </a:r>
            <a:r>
              <a:rPr lang="ko-KR" altLang="en-US" sz="3600" b="1" spc="6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프로그램</a:t>
            </a:r>
          </a:p>
        </p:txBody>
      </p:sp>
    </p:spTree>
    <p:extLst>
      <p:ext uri="{BB962C8B-B14F-4D97-AF65-F5344CB8AC3E}">
        <p14:creationId xmlns:p14="http://schemas.microsoft.com/office/powerpoint/2010/main" val="1263649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6CB7179-2CED-698E-7489-BBBF08E1F63C}"/>
              </a:ext>
            </a:extLst>
          </p:cNvPr>
          <p:cNvSpPr/>
          <p:nvPr/>
        </p:nvSpPr>
        <p:spPr>
          <a:xfrm>
            <a:off x="272715" y="0"/>
            <a:ext cx="802105" cy="7527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A721A3-5D9B-A549-DF5D-D0547EE5B424}"/>
              </a:ext>
            </a:extLst>
          </p:cNvPr>
          <p:cNvSpPr txBox="1"/>
          <p:nvPr/>
        </p:nvSpPr>
        <p:spPr>
          <a:xfrm>
            <a:off x="1176688" y="137160"/>
            <a:ext cx="4940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Part 2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FEF442-2E39-E8A3-0720-B4AF147BC24A}"/>
              </a:ext>
            </a:extLst>
          </p:cNvPr>
          <p:cNvSpPr txBox="1"/>
          <p:nvPr/>
        </p:nvSpPr>
        <p:spPr>
          <a:xfrm>
            <a:off x="1176688" y="383381"/>
            <a:ext cx="2791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개발언어 </a:t>
            </a:r>
            <a:r>
              <a:rPr lang="en-US" altLang="ko-KR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&amp; </a:t>
            </a:r>
            <a:r>
              <a:rPr lang="ko-KR" altLang="en-US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프로그램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65DE71-6D4F-FCDD-06BD-BCE94E89CF64}"/>
              </a:ext>
            </a:extLst>
          </p:cNvPr>
          <p:cNvSpPr/>
          <p:nvPr/>
        </p:nvSpPr>
        <p:spPr>
          <a:xfrm>
            <a:off x="354360" y="1907872"/>
            <a:ext cx="3493756" cy="293354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766D4A2-C27E-F538-FEE4-3752355F26D2}"/>
              </a:ext>
            </a:extLst>
          </p:cNvPr>
          <p:cNvSpPr/>
          <p:nvPr/>
        </p:nvSpPr>
        <p:spPr>
          <a:xfrm>
            <a:off x="4336112" y="1972526"/>
            <a:ext cx="3493756" cy="28688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BBDB582-3841-0AF4-E29F-C78076681407}"/>
              </a:ext>
            </a:extLst>
          </p:cNvPr>
          <p:cNvSpPr/>
          <p:nvPr/>
        </p:nvSpPr>
        <p:spPr>
          <a:xfrm>
            <a:off x="8114663" y="1972526"/>
            <a:ext cx="3493756" cy="2868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EEF232-FA1B-8440-C01E-88DD8F64BC0B}"/>
              </a:ext>
            </a:extLst>
          </p:cNvPr>
          <p:cNvSpPr txBox="1"/>
          <p:nvPr/>
        </p:nvSpPr>
        <p:spPr>
          <a:xfrm>
            <a:off x="818306" y="5428860"/>
            <a:ext cx="2972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프로그래밍 언어 및 개발 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88DE93-B542-72FF-C1D5-E3C1D5838B5B}"/>
              </a:ext>
            </a:extLst>
          </p:cNvPr>
          <p:cNvSpPr txBox="1"/>
          <p:nvPr/>
        </p:nvSpPr>
        <p:spPr>
          <a:xfrm>
            <a:off x="4629716" y="5428860"/>
            <a:ext cx="2906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데이터 베이스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프레임워크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271836-4B2A-080D-35A6-FC7CC5B9E7B7}"/>
              </a:ext>
            </a:extLst>
          </p:cNvPr>
          <p:cNvSpPr txBox="1"/>
          <p:nvPr/>
        </p:nvSpPr>
        <p:spPr>
          <a:xfrm>
            <a:off x="9053471" y="5428860"/>
            <a:ext cx="1616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웹 프로그래밍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8C578B9-BE39-4ED7-602D-599526FC3980}"/>
              </a:ext>
            </a:extLst>
          </p:cNvPr>
          <p:cNvCxnSpPr>
            <a:cxnSpLocks/>
          </p:cNvCxnSpPr>
          <p:nvPr/>
        </p:nvCxnSpPr>
        <p:spPr>
          <a:xfrm>
            <a:off x="1391368" y="5213445"/>
            <a:ext cx="182614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60E155F-DFB5-C5EF-7DDD-3079768FC6EE}"/>
              </a:ext>
            </a:extLst>
          </p:cNvPr>
          <p:cNvCxnSpPr>
            <a:cxnSpLocks/>
          </p:cNvCxnSpPr>
          <p:nvPr/>
        </p:nvCxnSpPr>
        <p:spPr>
          <a:xfrm>
            <a:off x="5169920" y="5213445"/>
            <a:ext cx="182614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971DFEE-295C-635D-D79B-725F3B15FF7C}"/>
              </a:ext>
            </a:extLst>
          </p:cNvPr>
          <p:cNvCxnSpPr>
            <a:cxnSpLocks/>
          </p:cNvCxnSpPr>
          <p:nvPr/>
        </p:nvCxnSpPr>
        <p:spPr>
          <a:xfrm>
            <a:off x="8948471" y="5213445"/>
            <a:ext cx="182614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 descr="그래픽, 클립아트, 그래픽 디자인, 창의성이(가) 표시된 사진&#10;&#10;자동 생성된 설명">
            <a:extLst>
              <a:ext uri="{FF2B5EF4-FFF2-40B4-BE49-F238E27FC236}">
                <a16:creationId xmlns:a16="http://schemas.microsoft.com/office/drawing/2014/main" id="{11B73EFC-079A-5FEB-6B33-03B9637D50E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625" y="2103909"/>
            <a:ext cx="1905618" cy="1376280"/>
          </a:xfrm>
          <a:prstGeom prst="rect">
            <a:avLst/>
          </a:prstGeom>
        </p:spPr>
      </p:pic>
      <p:pic>
        <p:nvPicPr>
          <p:cNvPr id="19" name="그림 18" descr="그래픽, 디자인이(가) 표시된 사진&#10;&#10;자동 생성된 설명">
            <a:extLst>
              <a:ext uri="{FF2B5EF4-FFF2-40B4-BE49-F238E27FC236}">
                <a16:creationId xmlns:a16="http://schemas.microsoft.com/office/drawing/2014/main" id="{91CCB07B-BE93-2B03-C4B6-A69A3E36BF7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313" y="2976015"/>
            <a:ext cx="1943707" cy="1943707"/>
          </a:xfrm>
          <a:prstGeom prst="rect">
            <a:avLst/>
          </a:prstGeom>
        </p:spPr>
      </p:pic>
      <p:pic>
        <p:nvPicPr>
          <p:cNvPr id="23" name="그림 22" descr="그래픽, 폰트, 포스터, 디자인이(가) 표시된 사진&#10;&#10;자동 생성된 설명">
            <a:extLst>
              <a:ext uri="{FF2B5EF4-FFF2-40B4-BE49-F238E27FC236}">
                <a16:creationId xmlns:a16="http://schemas.microsoft.com/office/drawing/2014/main" id="{21FCDC1B-4A1C-7FAF-DA1D-7C42F7E5F9D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970" y="1907872"/>
            <a:ext cx="1279014" cy="1279014"/>
          </a:xfrm>
          <a:prstGeom prst="rect">
            <a:avLst/>
          </a:prstGeom>
        </p:spPr>
      </p:pic>
      <p:pic>
        <p:nvPicPr>
          <p:cNvPr id="25" name="그림 24" descr="클립아트, 그래픽, 상징, 만화 영화이(가) 표시된 사진&#10;&#10;자동 생성된 설명">
            <a:extLst>
              <a:ext uri="{FF2B5EF4-FFF2-40B4-BE49-F238E27FC236}">
                <a16:creationId xmlns:a16="http://schemas.microsoft.com/office/drawing/2014/main" id="{76EF063E-BE5B-2043-D5B7-94327589E7F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907" y="1931799"/>
            <a:ext cx="1627114" cy="1627114"/>
          </a:xfrm>
          <a:prstGeom prst="rect">
            <a:avLst/>
          </a:prstGeom>
        </p:spPr>
      </p:pic>
      <p:pic>
        <p:nvPicPr>
          <p:cNvPr id="27" name="그림 26" descr="그래픽, 그래픽 디자인, 스크린샷, 폰트이(가) 표시된 사진&#10;&#10;자동 생성된 설명">
            <a:extLst>
              <a:ext uri="{FF2B5EF4-FFF2-40B4-BE49-F238E27FC236}">
                <a16:creationId xmlns:a16="http://schemas.microsoft.com/office/drawing/2014/main" id="{56C5CFFB-CE41-BCAC-1F11-4378DF1A42E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570" y="3374645"/>
            <a:ext cx="1418050" cy="1418050"/>
          </a:xfrm>
          <a:prstGeom prst="rect">
            <a:avLst/>
          </a:prstGeom>
        </p:spPr>
      </p:pic>
      <p:pic>
        <p:nvPicPr>
          <p:cNvPr id="33" name="그림 32" descr="디자인이(가) 표시된 사진&#10;&#10;자동 생성된 설명">
            <a:extLst>
              <a:ext uri="{FF2B5EF4-FFF2-40B4-BE49-F238E27FC236}">
                <a16:creationId xmlns:a16="http://schemas.microsoft.com/office/drawing/2014/main" id="{A9F8D85D-495A-7DFC-A49F-58752AEF6DE6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7864" y="2364509"/>
            <a:ext cx="3100934" cy="1985818"/>
          </a:xfrm>
          <a:prstGeom prst="rect">
            <a:avLst/>
          </a:prstGeom>
        </p:spPr>
      </p:pic>
      <p:pic>
        <p:nvPicPr>
          <p:cNvPr id="35" name="그림 34" descr="그래픽, 폰트, 원, 그래픽 디자인이(가) 표시된 사진&#10;&#10;자동 생성된 설명">
            <a:extLst>
              <a:ext uri="{FF2B5EF4-FFF2-40B4-BE49-F238E27FC236}">
                <a16:creationId xmlns:a16="http://schemas.microsoft.com/office/drawing/2014/main" id="{7BFED4E1-FC85-FD79-D909-7259A5E52C04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2" y="3588679"/>
            <a:ext cx="988859" cy="114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6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E56937B-FD6E-33C5-CF71-0693438652A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0F16938-4AB3-C31E-90F7-0E878D78B7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양쪽 대괄호 4">
            <a:extLst>
              <a:ext uri="{FF2B5EF4-FFF2-40B4-BE49-F238E27FC236}">
                <a16:creationId xmlns:a16="http://schemas.microsoft.com/office/drawing/2014/main" id="{A85AD9A1-C6CD-390A-EC4C-B0EF5C170030}"/>
              </a:ext>
            </a:extLst>
          </p:cNvPr>
          <p:cNvSpPr/>
          <p:nvPr/>
        </p:nvSpPr>
        <p:spPr>
          <a:xfrm>
            <a:off x="1026695" y="2342148"/>
            <a:ext cx="10299031" cy="2197768"/>
          </a:xfrm>
          <a:prstGeom prst="bracketPair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99F7BD-985D-25E8-0155-602A31D9B744}"/>
              </a:ext>
            </a:extLst>
          </p:cNvPr>
          <p:cNvSpPr txBox="1"/>
          <p:nvPr/>
        </p:nvSpPr>
        <p:spPr>
          <a:xfrm>
            <a:off x="5405843" y="2823410"/>
            <a:ext cx="1380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spc="600" dirty="0">
                <a:solidFill>
                  <a:schemeClr val="bg1"/>
                </a:solidFill>
              </a:rPr>
              <a:t>Part 3</a:t>
            </a:r>
            <a:endParaRPr lang="ko-KR" altLang="en-US" sz="2400" spc="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0D104D-2799-1AAD-000E-28652FD45B3B}"/>
              </a:ext>
            </a:extLst>
          </p:cNvPr>
          <p:cNvSpPr txBox="1"/>
          <p:nvPr/>
        </p:nvSpPr>
        <p:spPr>
          <a:xfrm>
            <a:off x="4003122" y="3438435"/>
            <a:ext cx="4724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6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프로젝트 요구사항</a:t>
            </a:r>
          </a:p>
        </p:txBody>
      </p:sp>
    </p:spTree>
    <p:extLst>
      <p:ext uri="{BB962C8B-B14F-4D97-AF65-F5344CB8AC3E}">
        <p14:creationId xmlns:p14="http://schemas.microsoft.com/office/powerpoint/2010/main" val="147334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6CB7179-2CED-698E-7489-BBBF08E1F63C}"/>
              </a:ext>
            </a:extLst>
          </p:cNvPr>
          <p:cNvSpPr/>
          <p:nvPr/>
        </p:nvSpPr>
        <p:spPr>
          <a:xfrm>
            <a:off x="272715" y="0"/>
            <a:ext cx="802105" cy="7527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A721A3-5D9B-A549-DF5D-D0547EE5B424}"/>
              </a:ext>
            </a:extLst>
          </p:cNvPr>
          <p:cNvSpPr txBox="1"/>
          <p:nvPr/>
        </p:nvSpPr>
        <p:spPr>
          <a:xfrm>
            <a:off x="1176688" y="137160"/>
            <a:ext cx="4940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Part 3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FEF442-2E39-E8A3-0720-B4AF147BC24A}"/>
              </a:ext>
            </a:extLst>
          </p:cNvPr>
          <p:cNvSpPr txBox="1"/>
          <p:nvPr/>
        </p:nvSpPr>
        <p:spPr>
          <a:xfrm>
            <a:off x="1176688" y="383381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프로젝트 요구사항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BDE3543-6B31-F655-1F72-8F9D7F69FF16}"/>
              </a:ext>
            </a:extLst>
          </p:cNvPr>
          <p:cNvSpPr>
            <a:spLocks/>
          </p:cNvSpPr>
          <p:nvPr/>
        </p:nvSpPr>
        <p:spPr>
          <a:xfrm>
            <a:off x="1056909" y="1434921"/>
            <a:ext cx="5040000" cy="226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AE25955-2E6D-83A3-A983-A4142B4790D4}"/>
              </a:ext>
            </a:extLst>
          </p:cNvPr>
          <p:cNvSpPr>
            <a:spLocks/>
          </p:cNvSpPr>
          <p:nvPr/>
        </p:nvSpPr>
        <p:spPr>
          <a:xfrm>
            <a:off x="6095090" y="1434921"/>
            <a:ext cx="5040000" cy="226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59079D4-A34C-72F9-327C-1CC28E11DDC9}"/>
              </a:ext>
            </a:extLst>
          </p:cNvPr>
          <p:cNvSpPr>
            <a:spLocks/>
          </p:cNvSpPr>
          <p:nvPr/>
        </p:nvSpPr>
        <p:spPr>
          <a:xfrm>
            <a:off x="1056909" y="3702013"/>
            <a:ext cx="5040000" cy="226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FE647B-6F57-183C-CE75-55A4CE2F3435}"/>
              </a:ext>
            </a:extLst>
          </p:cNvPr>
          <p:cNvSpPr>
            <a:spLocks/>
          </p:cNvSpPr>
          <p:nvPr/>
        </p:nvSpPr>
        <p:spPr>
          <a:xfrm>
            <a:off x="6095090" y="3702013"/>
            <a:ext cx="5040000" cy="226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24CDA4-9014-2746-B84D-6E9D6E7D8565}"/>
              </a:ext>
            </a:extLst>
          </p:cNvPr>
          <p:cNvSpPr txBox="1"/>
          <p:nvPr/>
        </p:nvSpPr>
        <p:spPr>
          <a:xfrm>
            <a:off x="5047173" y="3194506"/>
            <a:ext cx="93968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accent3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로그인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9845CE-5F38-8D74-E775-FDE803C59C9E}"/>
              </a:ext>
            </a:extLst>
          </p:cNvPr>
          <p:cNvSpPr txBox="1"/>
          <p:nvPr/>
        </p:nvSpPr>
        <p:spPr>
          <a:xfrm>
            <a:off x="1237253" y="1698190"/>
            <a:ext cx="4857837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데이터 베이스에 있는 회원 정보를 통해 로그인</a:t>
            </a:r>
            <a:endParaRPr lang="en-US" altLang="ko-KR" spc="-15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비밀번호와 로그인정보 확인</a:t>
            </a:r>
            <a:endParaRPr lang="en-US" altLang="ko-KR" spc="-15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로그인 성공 시 메인 페이지로 접속</a:t>
            </a:r>
            <a:endParaRPr lang="en-US" altLang="ko-KR" spc="-15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F3A11B-9C54-FD80-D998-F99320149069}"/>
              </a:ext>
            </a:extLst>
          </p:cNvPr>
          <p:cNvSpPr txBox="1"/>
          <p:nvPr/>
        </p:nvSpPr>
        <p:spPr>
          <a:xfrm>
            <a:off x="6194673" y="1487564"/>
            <a:ext cx="4635828" cy="1706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accent3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사용자의 아이디와 비밀번호를</a:t>
            </a:r>
            <a:r>
              <a:rPr lang="en-US" altLang="ko-KR" spc="-150" dirty="0">
                <a:solidFill>
                  <a:schemeClr val="accent3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accent3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</a:t>
            </a:r>
            <a:r>
              <a:rPr lang="ko-KR" altLang="en-US" spc="-150" dirty="0">
                <a:solidFill>
                  <a:schemeClr val="accent3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데이터베이스에 저장</a:t>
            </a:r>
            <a:endParaRPr lang="en-US" altLang="ko-KR" spc="-150" dirty="0">
              <a:solidFill>
                <a:schemeClr val="accent3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accent3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중복 가입은 불가능</a:t>
            </a:r>
            <a:endParaRPr lang="en-US" altLang="ko-KR" spc="-150" dirty="0">
              <a:solidFill>
                <a:schemeClr val="accent3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accent3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일정 양식에 따라 회원가입 작성</a:t>
            </a:r>
            <a:endParaRPr lang="en-US" altLang="ko-KR" spc="-150" dirty="0">
              <a:solidFill>
                <a:schemeClr val="accent3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EC00D8-1ECD-6CF8-5821-D1D02013A6EB}"/>
              </a:ext>
            </a:extLst>
          </p:cNvPr>
          <p:cNvSpPr txBox="1"/>
          <p:nvPr/>
        </p:nvSpPr>
        <p:spPr>
          <a:xfrm>
            <a:off x="1179840" y="4291907"/>
            <a:ext cx="4591197" cy="1291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머신 러닝을 이용하여 설정된 단어 학습</a:t>
            </a:r>
            <a:endParaRPr lang="en-US" altLang="ko-KR" spc="-15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웹페이지 서버와 연동하여 </a:t>
            </a:r>
            <a:r>
              <a:rPr lang="en-US" altLang="ko-KR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웹에서 실행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주어진 단어에 따라 역할을 수행하도록 구현</a:t>
            </a:r>
            <a:endParaRPr lang="en-US" altLang="ko-KR" spc="-15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53E4CE-E926-7FE0-D488-EF4822EDDF14}"/>
              </a:ext>
            </a:extLst>
          </p:cNvPr>
          <p:cNvSpPr txBox="1"/>
          <p:nvPr/>
        </p:nvSpPr>
        <p:spPr>
          <a:xfrm>
            <a:off x="6410489" y="4320125"/>
            <a:ext cx="4420012" cy="1291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accent3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장바구니에서 </a:t>
            </a:r>
            <a:r>
              <a:rPr lang="ko-KR" altLang="en-US" spc="-150" dirty="0" err="1">
                <a:solidFill>
                  <a:schemeClr val="accent3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굿즈</a:t>
            </a:r>
            <a:r>
              <a:rPr lang="ko-KR" altLang="en-US" spc="-150" dirty="0">
                <a:solidFill>
                  <a:schemeClr val="accent3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리스트 확인</a:t>
            </a:r>
            <a:endParaRPr lang="en-US" altLang="ko-KR" spc="-150" dirty="0">
              <a:solidFill>
                <a:schemeClr val="accent3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accent3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원하는 </a:t>
            </a:r>
            <a:r>
              <a:rPr lang="ko-KR" altLang="en-US" spc="-150" dirty="0" err="1">
                <a:solidFill>
                  <a:schemeClr val="accent3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굿즈의</a:t>
            </a:r>
            <a:r>
              <a:rPr lang="ko-KR" altLang="en-US" spc="-150" dirty="0">
                <a:solidFill>
                  <a:schemeClr val="accent3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수량을 카운트</a:t>
            </a:r>
            <a:endParaRPr lang="en-US" altLang="ko-KR" spc="-150" dirty="0">
              <a:solidFill>
                <a:schemeClr val="accent3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accent3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합산된 가격을 계산하여 결제</a:t>
            </a:r>
            <a:endParaRPr lang="en-US" altLang="ko-KR" spc="-150" dirty="0">
              <a:solidFill>
                <a:schemeClr val="accent3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8C8682-135E-3964-32F3-28E4982F607D}"/>
              </a:ext>
            </a:extLst>
          </p:cNvPr>
          <p:cNvSpPr txBox="1"/>
          <p:nvPr/>
        </p:nvSpPr>
        <p:spPr>
          <a:xfrm>
            <a:off x="6194673" y="3194506"/>
            <a:ext cx="119135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accent3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회원가입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081C09-F1FB-4D15-E4F1-ADA717FDC798}"/>
              </a:ext>
            </a:extLst>
          </p:cNvPr>
          <p:cNvSpPr txBox="1"/>
          <p:nvPr/>
        </p:nvSpPr>
        <p:spPr>
          <a:xfrm>
            <a:off x="5228312" y="3810318"/>
            <a:ext cx="771365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 err="1">
                <a:solidFill>
                  <a:schemeClr val="accent3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챗</a:t>
            </a:r>
            <a:r>
              <a:rPr lang="ko-KR" altLang="en-US" sz="2000" b="1" dirty="0">
                <a:solidFill>
                  <a:schemeClr val="accent3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봇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85E067-CB17-C95D-E61C-2C92E589C041}"/>
              </a:ext>
            </a:extLst>
          </p:cNvPr>
          <p:cNvSpPr txBox="1"/>
          <p:nvPr/>
        </p:nvSpPr>
        <p:spPr>
          <a:xfrm>
            <a:off x="6192351" y="3801082"/>
            <a:ext cx="119135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accent3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장바구니</a:t>
            </a:r>
          </a:p>
        </p:txBody>
      </p:sp>
    </p:spTree>
    <p:extLst>
      <p:ext uri="{BB962C8B-B14F-4D97-AF65-F5344CB8AC3E}">
        <p14:creationId xmlns:p14="http://schemas.microsoft.com/office/powerpoint/2010/main" val="606287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E56937B-FD6E-33C5-CF71-0693438652A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0F16938-4AB3-C31E-90F7-0E878D78B7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양쪽 대괄호 4">
            <a:extLst>
              <a:ext uri="{FF2B5EF4-FFF2-40B4-BE49-F238E27FC236}">
                <a16:creationId xmlns:a16="http://schemas.microsoft.com/office/drawing/2014/main" id="{A85AD9A1-C6CD-390A-EC4C-B0EF5C170030}"/>
              </a:ext>
            </a:extLst>
          </p:cNvPr>
          <p:cNvSpPr/>
          <p:nvPr/>
        </p:nvSpPr>
        <p:spPr>
          <a:xfrm>
            <a:off x="1026695" y="2342148"/>
            <a:ext cx="10299031" cy="2197768"/>
          </a:xfrm>
          <a:prstGeom prst="bracketPair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99F7BD-985D-25E8-0155-602A31D9B744}"/>
              </a:ext>
            </a:extLst>
          </p:cNvPr>
          <p:cNvSpPr txBox="1"/>
          <p:nvPr/>
        </p:nvSpPr>
        <p:spPr>
          <a:xfrm>
            <a:off x="5405843" y="2823410"/>
            <a:ext cx="1380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spc="600" dirty="0">
                <a:solidFill>
                  <a:schemeClr val="bg1"/>
                </a:solidFill>
              </a:rPr>
              <a:t>Part 4</a:t>
            </a:r>
            <a:endParaRPr lang="ko-KR" altLang="en-US" sz="2400" spc="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0D104D-2799-1AAD-000E-28652FD45B3B}"/>
              </a:ext>
            </a:extLst>
          </p:cNvPr>
          <p:cNvSpPr txBox="1"/>
          <p:nvPr/>
        </p:nvSpPr>
        <p:spPr>
          <a:xfrm>
            <a:off x="4003122" y="3438435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6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주요화면소개</a:t>
            </a:r>
          </a:p>
        </p:txBody>
      </p:sp>
    </p:spTree>
    <p:extLst>
      <p:ext uri="{BB962C8B-B14F-4D97-AF65-F5344CB8AC3E}">
        <p14:creationId xmlns:p14="http://schemas.microsoft.com/office/powerpoint/2010/main" val="4162276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6CB7179-2CED-698E-7489-BBBF08E1F63C}"/>
              </a:ext>
            </a:extLst>
          </p:cNvPr>
          <p:cNvSpPr/>
          <p:nvPr/>
        </p:nvSpPr>
        <p:spPr>
          <a:xfrm>
            <a:off x="272715" y="0"/>
            <a:ext cx="802105" cy="7527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A721A3-5D9B-A549-DF5D-D0547EE5B424}"/>
              </a:ext>
            </a:extLst>
          </p:cNvPr>
          <p:cNvSpPr txBox="1"/>
          <p:nvPr/>
        </p:nvSpPr>
        <p:spPr>
          <a:xfrm>
            <a:off x="1176688" y="137160"/>
            <a:ext cx="4940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Part 4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FEF442-2E39-E8A3-0720-B4AF147BC24A}"/>
              </a:ext>
            </a:extLst>
          </p:cNvPr>
          <p:cNvSpPr txBox="1"/>
          <p:nvPr/>
        </p:nvSpPr>
        <p:spPr>
          <a:xfrm>
            <a:off x="1176688" y="383381"/>
            <a:ext cx="3762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데이터 베이스 모델링 결과물</a:t>
            </a:r>
          </a:p>
        </p:txBody>
      </p:sp>
      <p:pic>
        <p:nvPicPr>
          <p:cNvPr id="6" name="그림 5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id="{83EFF9FA-E9C3-793A-ECD6-623F48224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736" y="1385331"/>
            <a:ext cx="7868526" cy="49060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38359C-77A4-D204-5136-DB31BB91F804}"/>
              </a:ext>
            </a:extLst>
          </p:cNvPr>
          <p:cNvSpPr txBox="1"/>
          <p:nvPr/>
        </p:nvSpPr>
        <p:spPr>
          <a:xfrm>
            <a:off x="5075380" y="884356"/>
            <a:ext cx="2673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Made by </a:t>
            </a:r>
            <a:r>
              <a:rPr lang="en-US" altLang="ko-KR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ERDCloud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9090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6CB7179-2CED-698E-7489-BBBF08E1F63C}"/>
              </a:ext>
            </a:extLst>
          </p:cNvPr>
          <p:cNvSpPr/>
          <p:nvPr/>
        </p:nvSpPr>
        <p:spPr>
          <a:xfrm>
            <a:off x="272715" y="0"/>
            <a:ext cx="802105" cy="7527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A721A3-5D9B-A549-DF5D-D0547EE5B424}"/>
              </a:ext>
            </a:extLst>
          </p:cNvPr>
          <p:cNvSpPr txBox="1"/>
          <p:nvPr/>
        </p:nvSpPr>
        <p:spPr>
          <a:xfrm>
            <a:off x="1176688" y="137160"/>
            <a:ext cx="4940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Part 4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FEF442-2E39-E8A3-0720-B4AF147BC24A}"/>
              </a:ext>
            </a:extLst>
          </p:cNvPr>
          <p:cNvSpPr txBox="1"/>
          <p:nvPr/>
        </p:nvSpPr>
        <p:spPr>
          <a:xfrm>
            <a:off x="1176688" y="383381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클래스 설계</a:t>
            </a:r>
          </a:p>
        </p:txBody>
      </p:sp>
      <p:pic>
        <p:nvPicPr>
          <p:cNvPr id="6" name="그림 5" descr="텍스트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361B8E4B-B7CD-CB90-CB17-F4FF76D812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67" y="1025743"/>
            <a:ext cx="2705334" cy="5486875"/>
          </a:xfrm>
          <a:prstGeom prst="rect">
            <a:avLst/>
          </a:prstGeom>
        </p:spPr>
      </p:pic>
      <p:pic>
        <p:nvPicPr>
          <p:cNvPr id="7" name="그림 6" descr="텍스트, 도표, 평면도, 평행이(가) 표시된 사진&#10;&#10;자동 생성된 설명">
            <a:extLst>
              <a:ext uri="{FF2B5EF4-FFF2-40B4-BE49-F238E27FC236}">
                <a16:creationId xmlns:a16="http://schemas.microsoft.com/office/drawing/2014/main" id="{AFEE0371-6FA3-BA0D-9074-3F1B66DCF9A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701" y="1517810"/>
            <a:ext cx="8224377" cy="470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467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6CB7179-2CED-698E-7489-BBBF08E1F63C}"/>
              </a:ext>
            </a:extLst>
          </p:cNvPr>
          <p:cNvSpPr/>
          <p:nvPr/>
        </p:nvSpPr>
        <p:spPr>
          <a:xfrm>
            <a:off x="272715" y="0"/>
            <a:ext cx="802105" cy="7527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A721A3-5D9B-A549-DF5D-D0547EE5B424}"/>
              </a:ext>
            </a:extLst>
          </p:cNvPr>
          <p:cNvSpPr txBox="1"/>
          <p:nvPr/>
        </p:nvSpPr>
        <p:spPr>
          <a:xfrm>
            <a:off x="1176688" y="137160"/>
            <a:ext cx="4940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Part 4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FEF442-2E39-E8A3-0720-B4AF147BC24A}"/>
              </a:ext>
            </a:extLst>
          </p:cNvPr>
          <p:cNvSpPr txBox="1"/>
          <p:nvPr/>
        </p:nvSpPr>
        <p:spPr>
          <a:xfrm>
            <a:off x="1176688" y="383381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메인</a:t>
            </a:r>
            <a:r>
              <a:rPr lang="en-US" altLang="ko-KR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pc="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굿즈</a:t>
            </a:r>
            <a:r>
              <a:rPr lang="ko-KR" altLang="en-US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페이지</a:t>
            </a:r>
          </a:p>
        </p:txBody>
      </p:sp>
      <p:pic>
        <p:nvPicPr>
          <p:cNvPr id="6" name="그림 5" descr="텍스트, 스크린샷, 웹 페이지, 온라인 광고이(가) 표시된 사진&#10;&#10;자동 생성된 설명">
            <a:extLst>
              <a:ext uri="{FF2B5EF4-FFF2-40B4-BE49-F238E27FC236}">
                <a16:creationId xmlns:a16="http://schemas.microsoft.com/office/drawing/2014/main" id="{04A07B7F-0F8D-0807-6F7C-070197E7E0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67" y="998934"/>
            <a:ext cx="3908219" cy="5542318"/>
          </a:xfrm>
          <a:prstGeom prst="rect">
            <a:avLst/>
          </a:prstGeom>
        </p:spPr>
      </p:pic>
      <p:pic>
        <p:nvPicPr>
          <p:cNvPr id="8" name="그림 7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9905D6A0-7EDA-B639-E885-D34D0A1C0AA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4726" y="1746127"/>
            <a:ext cx="6341143" cy="336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568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6CB7179-2CED-698E-7489-BBBF08E1F63C}"/>
              </a:ext>
            </a:extLst>
          </p:cNvPr>
          <p:cNvSpPr/>
          <p:nvPr/>
        </p:nvSpPr>
        <p:spPr>
          <a:xfrm>
            <a:off x="272715" y="0"/>
            <a:ext cx="802105" cy="7527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A721A3-5D9B-A549-DF5D-D0547EE5B424}"/>
              </a:ext>
            </a:extLst>
          </p:cNvPr>
          <p:cNvSpPr txBox="1"/>
          <p:nvPr/>
        </p:nvSpPr>
        <p:spPr>
          <a:xfrm>
            <a:off x="1176688" y="137160"/>
            <a:ext cx="4940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Part 4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FEF442-2E39-E8A3-0720-B4AF147BC24A}"/>
              </a:ext>
            </a:extLst>
          </p:cNvPr>
          <p:cNvSpPr txBox="1"/>
          <p:nvPr/>
        </p:nvSpPr>
        <p:spPr>
          <a:xfrm>
            <a:off x="1176688" y="383381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pc="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챗봇</a:t>
            </a:r>
            <a:r>
              <a:rPr lang="ko-KR" altLang="en-US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&amp; </a:t>
            </a:r>
            <a:r>
              <a:rPr lang="ko-KR" altLang="en-US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장바구니</a:t>
            </a:r>
          </a:p>
        </p:txBody>
      </p:sp>
      <p:pic>
        <p:nvPicPr>
          <p:cNvPr id="9" name="그림 8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55BC9964-D834-3216-BEBF-28A60134645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688" y="1653309"/>
            <a:ext cx="4447739" cy="4713360"/>
          </a:xfrm>
          <a:prstGeom prst="rect">
            <a:avLst/>
          </a:prstGeom>
        </p:spPr>
      </p:pic>
      <p:pic>
        <p:nvPicPr>
          <p:cNvPr id="11" name="그림 10" descr="텍스트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39538F24-1CD8-6F87-8ECA-78F433BCBF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527" y="991978"/>
            <a:ext cx="4359018" cy="550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56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6CB7179-2CED-698E-7489-BBBF08E1F63C}"/>
              </a:ext>
            </a:extLst>
          </p:cNvPr>
          <p:cNvSpPr/>
          <p:nvPr/>
        </p:nvSpPr>
        <p:spPr>
          <a:xfrm>
            <a:off x="272715" y="0"/>
            <a:ext cx="802105" cy="7527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A721A3-5D9B-A549-DF5D-D0547EE5B424}"/>
              </a:ext>
            </a:extLst>
          </p:cNvPr>
          <p:cNvSpPr txBox="1"/>
          <p:nvPr/>
        </p:nvSpPr>
        <p:spPr>
          <a:xfrm>
            <a:off x="1176688" y="137160"/>
            <a:ext cx="4940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Part 4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FEF442-2E39-E8A3-0720-B4AF147BC24A}"/>
              </a:ext>
            </a:extLst>
          </p:cNvPr>
          <p:cNvSpPr txBox="1"/>
          <p:nvPr/>
        </p:nvSpPr>
        <p:spPr>
          <a:xfrm>
            <a:off x="1176688" y="383381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게시판</a:t>
            </a:r>
          </a:p>
        </p:txBody>
      </p:sp>
      <p:pic>
        <p:nvPicPr>
          <p:cNvPr id="7" name="그림 6" descr="텍스트, 스크린샷, 디스플레이, 폰트이(가) 표시된 사진&#10;&#10;자동 생성된 설명">
            <a:extLst>
              <a:ext uri="{FF2B5EF4-FFF2-40B4-BE49-F238E27FC236}">
                <a16:creationId xmlns:a16="http://schemas.microsoft.com/office/drawing/2014/main" id="{ADDD8CC0-E70D-5708-D5B7-3F6338ACA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34" y="1266197"/>
            <a:ext cx="4938188" cy="4564776"/>
          </a:xfrm>
          <a:prstGeom prst="rect">
            <a:avLst/>
          </a:prstGeom>
        </p:spPr>
      </p:pic>
      <p:pic>
        <p:nvPicPr>
          <p:cNvPr id="10" name="그림 9" descr="텍스트, 스크린샷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id="{E63A0A24-9816-31DE-EFB6-D65F2738BB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586" y="568047"/>
            <a:ext cx="5346923" cy="591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836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6CB7179-2CED-698E-7489-BBBF08E1F63C}"/>
              </a:ext>
            </a:extLst>
          </p:cNvPr>
          <p:cNvSpPr/>
          <p:nvPr/>
        </p:nvSpPr>
        <p:spPr>
          <a:xfrm>
            <a:off x="272715" y="0"/>
            <a:ext cx="802105" cy="7527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A721A3-5D9B-A549-DF5D-D0547EE5B424}"/>
              </a:ext>
            </a:extLst>
          </p:cNvPr>
          <p:cNvSpPr txBox="1"/>
          <p:nvPr/>
        </p:nvSpPr>
        <p:spPr>
          <a:xfrm>
            <a:off x="1176688" y="137160"/>
            <a:ext cx="4940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Part 4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FEF442-2E39-E8A3-0720-B4AF147BC24A}"/>
              </a:ext>
            </a:extLst>
          </p:cNvPr>
          <p:cNvSpPr txBox="1"/>
          <p:nvPr/>
        </p:nvSpPr>
        <p:spPr>
          <a:xfrm>
            <a:off x="1176688" y="383381"/>
            <a:ext cx="2310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로그인</a:t>
            </a:r>
            <a:r>
              <a:rPr lang="en-US" altLang="ko-KR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회원가입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F9F86CB-A042-4117-C176-7760365E0CD6}"/>
              </a:ext>
            </a:extLst>
          </p:cNvPr>
          <p:cNvSpPr/>
          <p:nvPr/>
        </p:nvSpPr>
        <p:spPr>
          <a:xfrm>
            <a:off x="495299" y="1803400"/>
            <a:ext cx="5465375" cy="4541982"/>
          </a:xfrm>
          <a:prstGeom prst="rect">
            <a:avLst/>
          </a:prstGeom>
          <a:solidFill>
            <a:srgbClr val="F9EA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98D52BF-4726-EC87-2931-0913CCDFC028}"/>
              </a:ext>
            </a:extLst>
          </p:cNvPr>
          <p:cNvSpPr/>
          <p:nvPr/>
        </p:nvSpPr>
        <p:spPr>
          <a:xfrm>
            <a:off x="6231328" y="1803399"/>
            <a:ext cx="5439972" cy="454198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6AD84B6-98D9-40C7-DEC8-D5B4BE8AF458}"/>
              </a:ext>
            </a:extLst>
          </p:cNvPr>
          <p:cNvSpPr/>
          <p:nvPr/>
        </p:nvSpPr>
        <p:spPr>
          <a:xfrm>
            <a:off x="808930" y="2117027"/>
            <a:ext cx="4880670" cy="34894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1C9A66F-9CC6-2677-F394-719F962028F5}"/>
              </a:ext>
            </a:extLst>
          </p:cNvPr>
          <p:cNvSpPr/>
          <p:nvPr/>
        </p:nvSpPr>
        <p:spPr>
          <a:xfrm>
            <a:off x="6502400" y="2117027"/>
            <a:ext cx="4880670" cy="34894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138C67-1579-3D44-29B9-7DE29A11EEC1}"/>
              </a:ext>
            </a:extLst>
          </p:cNvPr>
          <p:cNvSpPr txBox="1"/>
          <p:nvPr/>
        </p:nvSpPr>
        <p:spPr>
          <a:xfrm>
            <a:off x="2752975" y="5706513"/>
            <a:ext cx="992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spc="-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로그인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C9C296-C38D-1C8B-E24C-10710CD931C6}"/>
              </a:ext>
            </a:extLst>
          </p:cNvPr>
          <p:cNvSpPr txBox="1"/>
          <p:nvPr/>
        </p:nvSpPr>
        <p:spPr>
          <a:xfrm>
            <a:off x="8320371" y="5706513"/>
            <a:ext cx="1261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spc="-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회원가입</a:t>
            </a:r>
          </a:p>
        </p:txBody>
      </p:sp>
      <p:pic>
        <p:nvPicPr>
          <p:cNvPr id="6" name="그림 5" descr="텍스트, 스크린샷, 라인이(가) 표시된 사진&#10;&#10;자동 생성된 설명">
            <a:extLst>
              <a:ext uri="{FF2B5EF4-FFF2-40B4-BE49-F238E27FC236}">
                <a16:creationId xmlns:a16="http://schemas.microsoft.com/office/drawing/2014/main" id="{6C74E2AE-A864-D602-E6D4-DC781587756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31" y="2698054"/>
            <a:ext cx="4880670" cy="2143886"/>
          </a:xfrm>
          <a:prstGeom prst="rect">
            <a:avLst/>
          </a:prstGeom>
        </p:spPr>
      </p:pic>
      <p:pic>
        <p:nvPicPr>
          <p:cNvPr id="8" name="그림 7" descr="텍스트, 스크린샷, 라인, 번호이(가) 표시된 사진&#10;&#10;자동 생성된 설명">
            <a:extLst>
              <a:ext uri="{FF2B5EF4-FFF2-40B4-BE49-F238E27FC236}">
                <a16:creationId xmlns:a16="http://schemas.microsoft.com/office/drawing/2014/main" id="{6EE9E42F-7350-A283-51C1-179581910BF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401" y="2554877"/>
            <a:ext cx="4775200" cy="218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731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6CB7179-2CED-698E-7489-BBBF08E1F63C}"/>
              </a:ext>
            </a:extLst>
          </p:cNvPr>
          <p:cNvSpPr/>
          <p:nvPr/>
        </p:nvSpPr>
        <p:spPr>
          <a:xfrm>
            <a:off x="272715" y="0"/>
            <a:ext cx="802105" cy="7527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A721A3-5D9B-A549-DF5D-D0547EE5B424}"/>
              </a:ext>
            </a:extLst>
          </p:cNvPr>
          <p:cNvSpPr txBox="1"/>
          <p:nvPr/>
        </p:nvSpPr>
        <p:spPr>
          <a:xfrm>
            <a:off x="1176688" y="137160"/>
            <a:ext cx="4940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Part 4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FEF442-2E39-E8A3-0720-B4AF147BC24A}"/>
              </a:ext>
            </a:extLst>
          </p:cNvPr>
          <p:cNvSpPr txBox="1"/>
          <p:nvPr/>
        </p:nvSpPr>
        <p:spPr>
          <a:xfrm>
            <a:off x="1176688" y="383381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개발 일정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6AD84B6-98D9-40C7-DEC8-D5B4BE8AF458}"/>
              </a:ext>
            </a:extLst>
          </p:cNvPr>
          <p:cNvSpPr/>
          <p:nvPr/>
        </p:nvSpPr>
        <p:spPr>
          <a:xfrm>
            <a:off x="808930" y="2117027"/>
            <a:ext cx="4880670" cy="2400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5DAC20D-397E-A360-80EE-BBF37E32C2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867004"/>
              </p:ext>
            </p:extLst>
          </p:nvPr>
        </p:nvGraphicFramePr>
        <p:xfrm>
          <a:off x="434109" y="2336030"/>
          <a:ext cx="11536219" cy="3949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685">
                  <a:extLst>
                    <a:ext uri="{9D8B030D-6E8A-4147-A177-3AD203B41FA5}">
                      <a16:colId xmlns:a16="http://schemas.microsoft.com/office/drawing/2014/main" val="817634184"/>
                    </a:ext>
                  </a:extLst>
                </a:gridCol>
                <a:gridCol w="911194">
                  <a:extLst>
                    <a:ext uri="{9D8B030D-6E8A-4147-A177-3AD203B41FA5}">
                      <a16:colId xmlns:a16="http://schemas.microsoft.com/office/drawing/2014/main" val="3435596053"/>
                    </a:ext>
                  </a:extLst>
                </a:gridCol>
                <a:gridCol w="1038556">
                  <a:extLst>
                    <a:ext uri="{9D8B030D-6E8A-4147-A177-3AD203B41FA5}">
                      <a16:colId xmlns:a16="http://schemas.microsoft.com/office/drawing/2014/main" val="983861027"/>
                    </a:ext>
                  </a:extLst>
                </a:gridCol>
                <a:gridCol w="1038556">
                  <a:extLst>
                    <a:ext uri="{9D8B030D-6E8A-4147-A177-3AD203B41FA5}">
                      <a16:colId xmlns:a16="http://schemas.microsoft.com/office/drawing/2014/main" val="1835625979"/>
                    </a:ext>
                  </a:extLst>
                </a:gridCol>
                <a:gridCol w="1038556">
                  <a:extLst>
                    <a:ext uri="{9D8B030D-6E8A-4147-A177-3AD203B41FA5}">
                      <a16:colId xmlns:a16="http://schemas.microsoft.com/office/drawing/2014/main" val="1184045261"/>
                    </a:ext>
                  </a:extLst>
                </a:gridCol>
                <a:gridCol w="1038556">
                  <a:extLst>
                    <a:ext uri="{9D8B030D-6E8A-4147-A177-3AD203B41FA5}">
                      <a16:colId xmlns:a16="http://schemas.microsoft.com/office/drawing/2014/main" val="3266679543"/>
                    </a:ext>
                  </a:extLst>
                </a:gridCol>
                <a:gridCol w="1038556">
                  <a:extLst>
                    <a:ext uri="{9D8B030D-6E8A-4147-A177-3AD203B41FA5}">
                      <a16:colId xmlns:a16="http://schemas.microsoft.com/office/drawing/2014/main" val="1960225609"/>
                    </a:ext>
                  </a:extLst>
                </a:gridCol>
                <a:gridCol w="1092892">
                  <a:extLst>
                    <a:ext uri="{9D8B030D-6E8A-4147-A177-3AD203B41FA5}">
                      <a16:colId xmlns:a16="http://schemas.microsoft.com/office/drawing/2014/main" val="3480946098"/>
                    </a:ext>
                  </a:extLst>
                </a:gridCol>
                <a:gridCol w="1038556">
                  <a:extLst>
                    <a:ext uri="{9D8B030D-6E8A-4147-A177-3AD203B41FA5}">
                      <a16:colId xmlns:a16="http://schemas.microsoft.com/office/drawing/2014/main" val="148991414"/>
                    </a:ext>
                  </a:extLst>
                </a:gridCol>
                <a:gridCol w="1353845">
                  <a:extLst>
                    <a:ext uri="{9D8B030D-6E8A-4147-A177-3AD203B41FA5}">
                      <a16:colId xmlns:a16="http://schemas.microsoft.com/office/drawing/2014/main" val="1165385917"/>
                    </a:ext>
                  </a:extLst>
                </a:gridCol>
                <a:gridCol w="723267">
                  <a:extLst>
                    <a:ext uri="{9D8B030D-6E8A-4147-A177-3AD203B41FA5}">
                      <a16:colId xmlns:a16="http://schemas.microsoft.com/office/drawing/2014/main" val="3866867588"/>
                    </a:ext>
                  </a:extLst>
                </a:gridCol>
              </a:tblGrid>
              <a:tr h="454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8/1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8/5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8/8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8/9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8/12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8/16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8/19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8/23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8/26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8/27~29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8/30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141850"/>
                  </a:ext>
                </a:extLst>
              </a:tr>
              <a:tr h="4549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주제 선정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476028"/>
                  </a:ext>
                </a:extLst>
              </a:tr>
              <a:tr h="47625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개발 환경 및</a:t>
                      </a:r>
                      <a:endParaRPr lang="en-US" altLang="ko-KR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 latinLnBrk="1"/>
                      <a:r>
                        <a:rPr lang="ko-KR" altLang="en-US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패키지 구축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360966"/>
                  </a:ext>
                </a:extLst>
              </a:tr>
              <a:tr h="45498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메인 홈페이지 제작 및 회원가입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912097"/>
                  </a:ext>
                </a:extLst>
              </a:tr>
              <a:tr h="45498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로그인 및 게시판 기능 </a:t>
                      </a:r>
                      <a:r>
                        <a:rPr lang="en-US" altLang="ko-KR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&amp; </a:t>
                      </a:r>
                      <a:r>
                        <a:rPr lang="ko-KR" altLang="en-US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웹페이지제작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58426"/>
                  </a:ext>
                </a:extLst>
              </a:tr>
              <a:tr h="45498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챗</a:t>
                      </a:r>
                      <a:r>
                        <a:rPr lang="ko-KR" altLang="en-US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봇</a:t>
                      </a:r>
                      <a:r>
                        <a:rPr lang="en-US" altLang="ko-KR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&amp; </a:t>
                      </a:r>
                      <a:r>
                        <a:rPr lang="ko-KR" altLang="en-US" dirty="0" err="1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굿즈</a:t>
                      </a:r>
                      <a:r>
                        <a:rPr lang="ko-KR" altLang="en-US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리스트 제작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816232"/>
                  </a:ext>
                </a:extLst>
              </a:tr>
              <a:tr h="45498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Ppt</a:t>
                      </a:r>
                      <a:r>
                        <a:rPr lang="ko-KR" altLang="en-US" sz="1600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제작 및 기능점검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681717"/>
                  </a:ext>
                </a:extLst>
              </a:tr>
              <a:tr h="45498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발표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900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26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E56937B-FD6E-33C5-CF71-0693438652A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0F16938-4AB3-C31E-90F7-0E878D78B7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양쪽 대괄호 4">
            <a:extLst>
              <a:ext uri="{FF2B5EF4-FFF2-40B4-BE49-F238E27FC236}">
                <a16:creationId xmlns:a16="http://schemas.microsoft.com/office/drawing/2014/main" id="{A85AD9A1-C6CD-390A-EC4C-B0EF5C170030}"/>
              </a:ext>
            </a:extLst>
          </p:cNvPr>
          <p:cNvSpPr/>
          <p:nvPr/>
        </p:nvSpPr>
        <p:spPr>
          <a:xfrm>
            <a:off x="1026695" y="2342148"/>
            <a:ext cx="10299031" cy="2197768"/>
          </a:xfrm>
          <a:prstGeom prst="bracketPair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99F7BD-985D-25E8-0155-602A31D9B744}"/>
              </a:ext>
            </a:extLst>
          </p:cNvPr>
          <p:cNvSpPr txBox="1"/>
          <p:nvPr/>
        </p:nvSpPr>
        <p:spPr>
          <a:xfrm>
            <a:off x="5405843" y="2823410"/>
            <a:ext cx="1380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spc="600" dirty="0">
                <a:solidFill>
                  <a:schemeClr val="bg1"/>
                </a:solidFill>
              </a:rPr>
              <a:t>Part 5</a:t>
            </a:r>
            <a:endParaRPr lang="ko-KR" altLang="en-US" sz="2400" spc="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0D104D-2799-1AAD-000E-28652FD45B3B}"/>
              </a:ext>
            </a:extLst>
          </p:cNvPr>
          <p:cNvSpPr txBox="1"/>
          <p:nvPr/>
        </p:nvSpPr>
        <p:spPr>
          <a:xfrm>
            <a:off x="5465058" y="3338711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6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시연</a:t>
            </a:r>
          </a:p>
        </p:txBody>
      </p:sp>
    </p:spTree>
    <p:extLst>
      <p:ext uri="{BB962C8B-B14F-4D97-AF65-F5344CB8AC3E}">
        <p14:creationId xmlns:p14="http://schemas.microsoft.com/office/powerpoint/2010/main" val="2611009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9596CE3-53D9-4F3C-30FB-64A769A9953D}"/>
              </a:ext>
            </a:extLst>
          </p:cNvPr>
          <p:cNvSpPr/>
          <p:nvPr/>
        </p:nvSpPr>
        <p:spPr>
          <a:xfrm>
            <a:off x="2050473" y="1385455"/>
            <a:ext cx="7527636" cy="410094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6CB7179-2CED-698E-7489-BBBF08E1F63C}"/>
              </a:ext>
            </a:extLst>
          </p:cNvPr>
          <p:cNvSpPr/>
          <p:nvPr/>
        </p:nvSpPr>
        <p:spPr>
          <a:xfrm>
            <a:off x="272715" y="0"/>
            <a:ext cx="802105" cy="7527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A721A3-5D9B-A549-DF5D-D0547EE5B424}"/>
              </a:ext>
            </a:extLst>
          </p:cNvPr>
          <p:cNvSpPr txBox="1"/>
          <p:nvPr/>
        </p:nvSpPr>
        <p:spPr>
          <a:xfrm>
            <a:off x="1176688" y="137160"/>
            <a:ext cx="4940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Part 5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FEF442-2E39-E8A3-0720-B4AF147BC24A}"/>
              </a:ext>
            </a:extLst>
          </p:cNvPr>
          <p:cNvSpPr txBox="1"/>
          <p:nvPr/>
        </p:nvSpPr>
        <p:spPr>
          <a:xfrm>
            <a:off x="1176688" y="383381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pc="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시연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6AD84B6-98D9-40C7-DEC8-D5B4BE8AF458}"/>
              </a:ext>
            </a:extLst>
          </p:cNvPr>
          <p:cNvSpPr/>
          <p:nvPr/>
        </p:nvSpPr>
        <p:spPr>
          <a:xfrm>
            <a:off x="3373956" y="2228850"/>
            <a:ext cx="4880670" cy="2400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hlinkClick r:id="rId2"/>
              </a:rPr>
              <a:t>http://localhost:8080/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 err="1">
                <a:solidFill>
                  <a:schemeClr val="tx1"/>
                </a:solidFill>
                <a:hlinkClick r:id="rId3" action="ppaction://hlinkfile"/>
              </a:rPr>
              <a:t>챗</a:t>
            </a:r>
            <a:r>
              <a:rPr lang="ko-KR" altLang="en-US" dirty="0">
                <a:solidFill>
                  <a:schemeClr val="tx1"/>
                </a:solidFill>
                <a:hlinkClick r:id="rId3" action="ppaction://hlinkfile"/>
              </a:rPr>
              <a:t> 봇 프로토 타입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5203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E56937B-FD6E-33C5-CF71-0693438652A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0F16938-4AB3-C31E-90F7-0E878D78B7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양쪽 대괄호 4">
            <a:extLst>
              <a:ext uri="{FF2B5EF4-FFF2-40B4-BE49-F238E27FC236}">
                <a16:creationId xmlns:a16="http://schemas.microsoft.com/office/drawing/2014/main" id="{A85AD9A1-C6CD-390A-EC4C-B0EF5C170030}"/>
              </a:ext>
            </a:extLst>
          </p:cNvPr>
          <p:cNvSpPr/>
          <p:nvPr/>
        </p:nvSpPr>
        <p:spPr>
          <a:xfrm>
            <a:off x="1026695" y="2342148"/>
            <a:ext cx="10299031" cy="2197768"/>
          </a:xfrm>
          <a:prstGeom prst="bracketPair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99F7BD-985D-25E8-0155-602A31D9B744}"/>
              </a:ext>
            </a:extLst>
          </p:cNvPr>
          <p:cNvSpPr txBox="1"/>
          <p:nvPr/>
        </p:nvSpPr>
        <p:spPr>
          <a:xfrm>
            <a:off x="5405843" y="2823410"/>
            <a:ext cx="1380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spc="600" dirty="0">
                <a:solidFill>
                  <a:schemeClr val="bg1"/>
                </a:solidFill>
              </a:rPr>
              <a:t>Part 6</a:t>
            </a:r>
            <a:endParaRPr lang="ko-KR" altLang="en-US" sz="2400" spc="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0D104D-2799-1AAD-000E-28652FD45B3B}"/>
              </a:ext>
            </a:extLst>
          </p:cNvPr>
          <p:cNvSpPr txBox="1"/>
          <p:nvPr/>
        </p:nvSpPr>
        <p:spPr>
          <a:xfrm>
            <a:off x="4003122" y="3438435"/>
            <a:ext cx="46666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6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느낀 점</a:t>
            </a:r>
            <a:r>
              <a:rPr lang="en-US" altLang="ko-KR" sz="3600" spc="6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3600" spc="6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개선사항</a:t>
            </a:r>
          </a:p>
        </p:txBody>
      </p:sp>
    </p:spTree>
    <p:extLst>
      <p:ext uri="{BB962C8B-B14F-4D97-AF65-F5344CB8AC3E}">
        <p14:creationId xmlns:p14="http://schemas.microsoft.com/office/powerpoint/2010/main" val="2983664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6CB7179-2CED-698E-7489-BBBF08E1F63C}"/>
              </a:ext>
            </a:extLst>
          </p:cNvPr>
          <p:cNvSpPr/>
          <p:nvPr/>
        </p:nvSpPr>
        <p:spPr>
          <a:xfrm>
            <a:off x="272715" y="0"/>
            <a:ext cx="802105" cy="7527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A721A3-5D9B-A549-DF5D-D0547EE5B424}"/>
              </a:ext>
            </a:extLst>
          </p:cNvPr>
          <p:cNvSpPr txBox="1"/>
          <p:nvPr/>
        </p:nvSpPr>
        <p:spPr>
          <a:xfrm>
            <a:off x="1176688" y="137160"/>
            <a:ext cx="4940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Part 6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FEF442-2E39-E8A3-0720-B4AF147BC24A}"/>
              </a:ext>
            </a:extLst>
          </p:cNvPr>
          <p:cNvSpPr txBox="1"/>
          <p:nvPr/>
        </p:nvSpPr>
        <p:spPr>
          <a:xfrm>
            <a:off x="1176688" y="383381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느낀 점</a:t>
            </a:r>
            <a:r>
              <a:rPr lang="en-US" altLang="ko-KR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개선사항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03B4BAA-D12D-4020-8B84-CF7CE4653DB4}"/>
              </a:ext>
            </a:extLst>
          </p:cNvPr>
          <p:cNvSpPr/>
          <p:nvPr/>
        </p:nvSpPr>
        <p:spPr>
          <a:xfrm>
            <a:off x="831246" y="1401075"/>
            <a:ext cx="9439589" cy="14172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37DEE81-73E6-A1B9-4E2A-B40830890F31}"/>
              </a:ext>
            </a:extLst>
          </p:cNvPr>
          <p:cNvSpPr/>
          <p:nvPr/>
        </p:nvSpPr>
        <p:spPr>
          <a:xfrm>
            <a:off x="831246" y="3127390"/>
            <a:ext cx="9359027" cy="14172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52FE4B8-7F86-AE03-9865-A61B3738E948}"/>
              </a:ext>
            </a:extLst>
          </p:cNvPr>
          <p:cNvSpPr/>
          <p:nvPr/>
        </p:nvSpPr>
        <p:spPr>
          <a:xfrm>
            <a:off x="847840" y="4788975"/>
            <a:ext cx="9359027" cy="14172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AF81E1B-411C-1F12-FA38-98D445B7652B}"/>
              </a:ext>
            </a:extLst>
          </p:cNvPr>
          <p:cNvSpPr/>
          <p:nvPr/>
        </p:nvSpPr>
        <p:spPr>
          <a:xfrm>
            <a:off x="831246" y="1401075"/>
            <a:ext cx="1000080" cy="14172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DE05CF7-92C4-8533-953B-A75FAA2D4655}"/>
              </a:ext>
            </a:extLst>
          </p:cNvPr>
          <p:cNvSpPr/>
          <p:nvPr/>
        </p:nvSpPr>
        <p:spPr>
          <a:xfrm>
            <a:off x="831246" y="3095025"/>
            <a:ext cx="1000080" cy="14172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3706EF9-709E-776A-0371-33D36D719C91}"/>
              </a:ext>
            </a:extLst>
          </p:cNvPr>
          <p:cNvSpPr/>
          <p:nvPr/>
        </p:nvSpPr>
        <p:spPr>
          <a:xfrm>
            <a:off x="831246" y="4788975"/>
            <a:ext cx="1000080" cy="14172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2F9068-5546-2363-4755-2095DFCEBFD2}"/>
              </a:ext>
            </a:extLst>
          </p:cNvPr>
          <p:cNvSpPr txBox="1"/>
          <p:nvPr/>
        </p:nvSpPr>
        <p:spPr>
          <a:xfrm>
            <a:off x="1066195" y="1736558"/>
            <a:ext cx="5500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</a:rPr>
              <a:t>1</a:t>
            </a:r>
            <a:endParaRPr lang="ko-KR" altLang="en-US" sz="40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1BA2DA-36ED-CD96-5FD8-ECC06178F3BB}"/>
              </a:ext>
            </a:extLst>
          </p:cNvPr>
          <p:cNvSpPr txBox="1"/>
          <p:nvPr/>
        </p:nvSpPr>
        <p:spPr>
          <a:xfrm>
            <a:off x="1066195" y="3439543"/>
            <a:ext cx="5500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</a:rPr>
              <a:t>2</a:t>
            </a:r>
            <a:endParaRPr lang="ko-KR" altLang="en-US" sz="4000" dirty="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0F5006-7B1D-D0C4-4564-F36FDDCB4782}"/>
              </a:ext>
            </a:extLst>
          </p:cNvPr>
          <p:cNvSpPr txBox="1"/>
          <p:nvPr/>
        </p:nvSpPr>
        <p:spPr>
          <a:xfrm>
            <a:off x="1052739" y="5132368"/>
            <a:ext cx="5768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</a:rPr>
              <a:t>3</a:t>
            </a:r>
            <a:endParaRPr lang="ko-KR" altLang="en-US" sz="40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6DAC188-6FCE-4A2F-07C7-C87E7B5D467C}"/>
              </a:ext>
            </a:extLst>
          </p:cNvPr>
          <p:cNvSpPr txBox="1"/>
          <p:nvPr/>
        </p:nvSpPr>
        <p:spPr>
          <a:xfrm>
            <a:off x="1981649" y="1556309"/>
            <a:ext cx="8138863" cy="1142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수업으로만 실습하였던 것과는 달리 혼자서 웹사이트를 제작하면서 생각보다 막히는 부분들이 많았다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  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특히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초반에 웹서버가 제대로 동작하지 않아 문제를 파악하는데 꽤 시간이 걸렸고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문제를 찾고 해결하는 과정속에서 더 자세히 공부하게 되었던 것 같다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1600" spc="-150" dirty="0">
              <a:solidFill>
                <a:schemeClr val="tx1">
                  <a:lumMod val="75000"/>
                  <a:lumOff val="2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146AC7-834C-7EC1-1FA0-4D588746AD52}"/>
              </a:ext>
            </a:extLst>
          </p:cNvPr>
          <p:cNvSpPr txBox="1"/>
          <p:nvPr/>
        </p:nvSpPr>
        <p:spPr>
          <a:xfrm>
            <a:off x="1941368" y="3373884"/>
            <a:ext cx="8138862" cy="77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이 프로젝트를 끝나고 나서 이후에 결제 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API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를 사용한 결제기능과 로그아웃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쿠폰 발급과 같이 기간내에 구현하지 못했던 것들과 여러가지 기능을 추가로 제작해서 웹페이지를 완성시켜보고 싶다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1600" spc="-150" dirty="0">
              <a:solidFill>
                <a:schemeClr val="tx1">
                  <a:lumMod val="75000"/>
                  <a:lumOff val="2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01FBD7-39AA-D3C2-8F55-FD87138C3D2B}"/>
              </a:ext>
            </a:extLst>
          </p:cNvPr>
          <p:cNvSpPr txBox="1"/>
          <p:nvPr/>
        </p:nvSpPr>
        <p:spPr>
          <a:xfrm>
            <a:off x="1847920" y="5015905"/>
            <a:ext cx="8138863" cy="77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초반에 계획하였던 것 만큼의 결과물을 내지 못하여 아쉬웠고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  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이를 통해 팀으로 구성하여 역할을 분담하고 프로젝트를 개발하는 것이 얼마나 중요한지 깨닫게 되었다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1600" spc="-150" dirty="0">
              <a:solidFill>
                <a:schemeClr val="tx1">
                  <a:lumMod val="75000"/>
                  <a:lumOff val="2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00566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거품, 개체, 모기장, 유리덮개이(가) 표시된 사진&#10;&#10;자동 생성된 설명">
            <a:extLst>
              <a:ext uri="{FF2B5EF4-FFF2-40B4-BE49-F238E27FC236}">
                <a16:creationId xmlns:a16="http://schemas.microsoft.com/office/drawing/2014/main" id="{C7177448-4082-63A3-D53E-D58342D879D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F7E1E0-CB8A-0685-127B-E9DF49A6E835}"/>
              </a:ext>
            </a:extLst>
          </p:cNvPr>
          <p:cNvSpPr txBox="1"/>
          <p:nvPr/>
        </p:nvSpPr>
        <p:spPr>
          <a:xfrm>
            <a:off x="4128153" y="2284492"/>
            <a:ext cx="3935693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3800" b="1" dirty="0">
                <a:solidFill>
                  <a:schemeClr val="bg1"/>
                </a:solidFill>
              </a:rPr>
              <a:t>Q&amp;A</a:t>
            </a:r>
            <a:endParaRPr lang="ko-KR" altLang="en-US" sz="13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8850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무척추동물이(가) 표시된 사진&#10;&#10;자동 생성된 설명">
            <a:extLst>
              <a:ext uri="{FF2B5EF4-FFF2-40B4-BE49-F238E27FC236}">
                <a16:creationId xmlns:a16="http://schemas.microsoft.com/office/drawing/2014/main" id="{D9A6B50A-9666-2152-708F-80566397598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62D2FD-9118-DF22-A84F-9811C74297BF}"/>
              </a:ext>
            </a:extLst>
          </p:cNvPr>
          <p:cNvSpPr txBox="1"/>
          <p:nvPr/>
        </p:nvSpPr>
        <p:spPr>
          <a:xfrm>
            <a:off x="3449719" y="2901991"/>
            <a:ext cx="512351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600" b="1" dirty="0">
                <a:solidFill>
                  <a:schemeClr val="bg1"/>
                </a:solidFill>
              </a:rPr>
              <a:t>THANK YOU</a:t>
            </a:r>
            <a:endParaRPr lang="ko-KR" altLang="en-US" sz="6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349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17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C9CC2"/>
      </a:accent1>
      <a:accent2>
        <a:srgbClr val="91BAD0"/>
      </a:accent2>
      <a:accent3>
        <a:srgbClr val="D7DBDC"/>
      </a:accent3>
      <a:accent4>
        <a:srgbClr val="D1CCC5"/>
      </a:accent4>
      <a:accent5>
        <a:srgbClr val="F5D8D3"/>
      </a:accent5>
      <a:accent6>
        <a:srgbClr val="C6BBCA"/>
      </a:accent6>
      <a:hlink>
        <a:srgbClr val="262626"/>
      </a:hlink>
      <a:folHlink>
        <a:srgbClr val="262626"/>
      </a:folHlink>
    </a:clrScheme>
    <a:fontScheme name="Pretendard_Black_standard">
      <a:majorFont>
        <a:latin typeface="Pretendard Black"/>
        <a:ea typeface="Pretendard Black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1030</TotalTime>
  <Words>378</Words>
  <Application>Microsoft Office PowerPoint</Application>
  <PresentationFormat>와이드스크린</PresentationFormat>
  <Paragraphs>109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HY견고딕</vt:lpstr>
      <vt:lpstr>Pretendard</vt:lpstr>
      <vt:lpstr>Pretendard Black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김민석</cp:lastModifiedBy>
  <cp:revision>20</cp:revision>
  <dcterms:created xsi:type="dcterms:W3CDTF">2022-12-21T02:15:26Z</dcterms:created>
  <dcterms:modified xsi:type="dcterms:W3CDTF">2024-08-29T07:48:12Z</dcterms:modified>
</cp:coreProperties>
</file>