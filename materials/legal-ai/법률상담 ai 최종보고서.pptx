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37" r:id="rId2"/>
    <p:sldId id="2538" r:id="rId3"/>
    <p:sldId id="2583" r:id="rId4"/>
    <p:sldId id="2593" r:id="rId5"/>
    <p:sldId id="2575" r:id="rId6"/>
    <p:sldId id="2614" r:id="rId7"/>
    <p:sldId id="2615" r:id="rId8"/>
    <p:sldId id="2592" r:id="rId9"/>
    <p:sldId id="2521" r:id="rId10"/>
    <p:sldId id="2551" r:id="rId11"/>
    <p:sldId id="2617" r:id="rId12"/>
    <p:sldId id="2616" r:id="rId13"/>
    <p:sldId id="2549" r:id="rId14"/>
    <p:sldId id="2594" r:id="rId15"/>
    <p:sldId id="2599" r:id="rId16"/>
    <p:sldId id="2540" r:id="rId17"/>
    <p:sldId id="2544" r:id="rId18"/>
    <p:sldId id="2619" r:id="rId19"/>
    <p:sldId id="2620" r:id="rId20"/>
    <p:sldId id="2571" r:id="rId21"/>
    <p:sldId id="2533" r:id="rId22"/>
    <p:sldId id="2570" r:id="rId23"/>
    <p:sldId id="2625" r:id="rId24"/>
    <p:sldId id="2626" r:id="rId25"/>
    <p:sldId id="2562" r:id="rId26"/>
    <p:sldId id="2622" r:id="rId27"/>
    <p:sldId id="2623" r:id="rId28"/>
    <p:sldId id="2624" r:id="rId29"/>
    <p:sldId id="2561" r:id="rId30"/>
    <p:sldId id="2591" r:id="rId31"/>
    <p:sldId id="2634" r:id="rId32"/>
    <p:sldId id="2635" r:id="rId33"/>
    <p:sldId id="2636" r:id="rId34"/>
    <p:sldId id="2637" r:id="rId35"/>
    <p:sldId id="2638" r:id="rId36"/>
    <p:sldId id="2628" r:id="rId37"/>
    <p:sldId id="2629" r:id="rId38"/>
    <p:sldId id="2631" r:id="rId39"/>
    <p:sldId id="2632" r:id="rId40"/>
    <p:sldId id="2633" r:id="rId41"/>
    <p:sldId id="2630" r:id="rId42"/>
  </p:sldIdLst>
  <p:sldSz cx="12192000" cy="6858000"/>
  <p:notesSz cx="6810375" cy="99425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5A58D58-0B56-4E74-A449-AAC09FEFBB7A}">
          <p14:sldIdLst>
            <p14:sldId id="2537"/>
            <p14:sldId id="2538"/>
            <p14:sldId id="2583"/>
            <p14:sldId id="2593"/>
            <p14:sldId id="2575"/>
            <p14:sldId id="2614"/>
            <p14:sldId id="2615"/>
            <p14:sldId id="2592"/>
            <p14:sldId id="2521"/>
            <p14:sldId id="2551"/>
            <p14:sldId id="2617"/>
            <p14:sldId id="2616"/>
            <p14:sldId id="2549"/>
            <p14:sldId id="2594"/>
            <p14:sldId id="2599"/>
            <p14:sldId id="2540"/>
            <p14:sldId id="2544"/>
            <p14:sldId id="2619"/>
            <p14:sldId id="2620"/>
            <p14:sldId id="2571"/>
            <p14:sldId id="2533"/>
            <p14:sldId id="2570"/>
            <p14:sldId id="2625"/>
            <p14:sldId id="2626"/>
            <p14:sldId id="2562"/>
            <p14:sldId id="2622"/>
            <p14:sldId id="2623"/>
            <p14:sldId id="2624"/>
            <p14:sldId id="2561"/>
            <p14:sldId id="2591"/>
            <p14:sldId id="2634"/>
            <p14:sldId id="2635"/>
            <p14:sldId id="2636"/>
            <p14:sldId id="2637"/>
            <p14:sldId id="2638"/>
            <p14:sldId id="2628"/>
            <p14:sldId id="2629"/>
            <p14:sldId id="2631"/>
            <p14:sldId id="2632"/>
            <p14:sldId id="2633"/>
            <p14:sldId id="26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9" autoAdjust="0"/>
    <p:restoredTop sz="96287" autoAdjust="0"/>
  </p:normalViewPr>
  <p:slideViewPr>
    <p:cSldViewPr>
      <p:cViewPr varScale="1">
        <p:scale>
          <a:sx n="82" d="100"/>
          <a:sy n="82" d="100"/>
        </p:scale>
        <p:origin x="672" y="72"/>
      </p:cViewPr>
      <p:guideLst/>
    </p:cSldViewPr>
  </p:slideViewPr>
  <p:outlineViewPr>
    <p:cViewPr>
      <p:scale>
        <a:sx n="33" d="100"/>
        <a:sy n="33" d="100"/>
      </p:scale>
      <p:origin x="0" y="-64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7625" y="0"/>
            <a:ext cx="2951163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7625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F7CB5E-DDDF-4608-B02A-A59224489D6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B40739-B0D0-41A6-85B2-48C63B0791FC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A4E4F212-01B2-484E-921F-15961AC320E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4E4F212-01B2-484E-921F-15961AC320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7435"/>
            <a:ext cx="12192000" cy="684312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7408" y="1549991"/>
            <a:ext cx="10009112" cy="1590976"/>
          </a:xfrm>
        </p:spPr>
        <p:txBody>
          <a:bodyPr anchor="ctr" anchorCtr="0">
            <a:normAutofit/>
          </a:bodyPr>
          <a:lstStyle>
            <a:lvl1pPr algn="l">
              <a:defRPr sz="4400" b="1">
                <a:solidFill>
                  <a:srgbClr val="0070C0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127448" y="3717032"/>
            <a:ext cx="7994104" cy="2987815"/>
          </a:xfrm>
        </p:spPr>
        <p:txBody>
          <a:bodyPr>
            <a:normAutofit/>
          </a:bodyPr>
          <a:lstStyle>
            <a:lvl1pPr marL="514350" indent="-514350" algn="l">
              <a:buFont typeface="+mj-lt"/>
              <a:buAutoNum type="arabicPeriod"/>
              <a:defRPr sz="2800" b="1">
                <a:solidFill>
                  <a:srgbClr val="0070C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모델 설계홍길동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5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>
              <a:defRPr/>
            </a:pPr>
            <a:fld id="{1C7800BB-9D0F-4B10-BA82-7BB2E08B492C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t="16110" b="61300"/>
          <a:stretch>
            <a:fillRect/>
          </a:stretch>
        </p:blipFill>
        <p:spPr>
          <a:xfrm>
            <a:off x="-8408" y="327859"/>
            <a:ext cx="12192000" cy="15494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90651" y="912937"/>
            <a:ext cx="11752906" cy="1965729"/>
          </a:xfrm>
        </p:spPr>
        <p:txBody>
          <a:bodyPr>
            <a:noAutofit/>
          </a:bodyPr>
          <a:lstStyle>
            <a:lvl1pPr marL="558900" indent="-342900"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3"/>
              </a:buBlip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684000" indent="-252000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baseline="0">
                <a:solidFill>
                  <a:srgbClr val="7030A0"/>
                </a:solidFill>
                <a:latin typeface="+mj-lt"/>
                <a:ea typeface="+mj-ea"/>
              </a:defRPr>
            </a:lvl2pPr>
            <a:lvl3pPr marL="936000" indent="-285750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baseline="0">
                <a:solidFill>
                  <a:schemeClr val="tx1"/>
                </a:solidFill>
                <a:latin typeface="+mj-lt"/>
                <a:ea typeface="+mj-ea"/>
              </a:defRPr>
            </a:lvl3pPr>
            <a:lvl4pPr marL="1260000" indent="-285750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baseline="0">
                <a:solidFill>
                  <a:schemeClr val="tx1"/>
                </a:solidFill>
                <a:latin typeface="+mj-lt"/>
                <a:ea typeface="+mj-ea"/>
              </a:defRPr>
            </a:lvl4pPr>
            <a:lvl5pPr marL="1725750" indent="-285750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baseline="0">
                <a:solidFill>
                  <a:schemeClr val="tx1"/>
                </a:solidFill>
                <a:latin typeface="+mj-lt"/>
                <a:ea typeface="+mj-ea"/>
              </a:defRPr>
            </a:lvl5pPr>
            <a:lvl6pPr>
              <a:lnSpc>
                <a:spcPts val="1000"/>
              </a:lnSpc>
              <a:spcBef>
                <a:spcPts val="0"/>
              </a:spcBef>
              <a:defRPr sz="1000"/>
            </a:lvl6pPr>
          </a:lstStyle>
          <a:p>
            <a:pPr lvl="0">
              <a:defRPr/>
            </a:pPr>
            <a:r>
              <a:rPr lang="ko-KR" altLang="en-US"/>
              <a:t>첫째 수준</a:t>
            </a:r>
          </a:p>
          <a:p>
            <a:pPr lvl="1">
              <a:defRPr/>
            </a:pPr>
            <a:r>
              <a:rPr lang="ko-KR" altLang="en-US"/>
              <a:t> 둘째 수준 </a:t>
            </a:r>
            <a:r>
              <a:rPr lang="en-US" altLang="ko-KR"/>
              <a:t>(</a:t>
            </a:r>
            <a:r>
              <a:rPr lang="ko-KR" altLang="en-US"/>
              <a:t>내용</a:t>
            </a:r>
            <a:r>
              <a:rPr lang="en-US" altLang="ko-KR"/>
              <a:t>)</a:t>
            </a:r>
          </a:p>
          <a:p>
            <a:pPr lvl="2">
              <a:defRPr/>
            </a:pPr>
            <a:r>
              <a:rPr lang="ko-KR" altLang="en-US"/>
              <a:t>세째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  <a:p>
            <a:pPr lvl="5">
              <a:defRPr/>
            </a:pPr>
            <a:r>
              <a:rPr lang="en-US" altLang="ko-KR"/>
              <a:t>b</a:t>
            </a:r>
          </a:p>
          <a:p>
            <a:pPr lvl="1">
              <a:defRPr/>
            </a:pPr>
            <a:r>
              <a:rPr lang="ko-KR" altLang="en-US"/>
              <a:t>ㅗㅗ</a:t>
            </a:r>
            <a:endParaRPr lang="en-US" altLang="ko-KR"/>
          </a:p>
        </p:txBody>
      </p:sp>
      <p:sp>
        <p:nvSpPr>
          <p:cNvPr id="19" name="제목 1"/>
          <p:cNvSpPr>
            <a:spLocks noGrp="1"/>
          </p:cNvSpPr>
          <p:nvPr>
            <p:ph type="title" hasCustomPrompt="1"/>
          </p:nvPr>
        </p:nvSpPr>
        <p:spPr>
          <a:xfrm>
            <a:off x="393032" y="185460"/>
            <a:ext cx="10162673" cy="643394"/>
          </a:xfrm>
        </p:spPr>
        <p:txBody>
          <a:bodyPr/>
          <a:lstStyle>
            <a:lvl1pPr algn="ctr">
              <a:defRPr sz="24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 algn="ctr">
              <a:defRPr/>
            </a:pPr>
            <a:r>
              <a:rPr lang="ko-KR" altLang="en-US"/>
              <a:t>수준</a:t>
            </a:r>
            <a:endParaRPr lang="ko-KR" altLang="en-US">
              <a:solidFill>
                <a:srgbClr val="7395AD"/>
              </a:solidFill>
              <a:latin typeface="나눔바른고딕OTF"/>
              <a:ea typeface="나눔바른고딕OTF"/>
            </a:endParaRPr>
          </a:p>
        </p:txBody>
      </p:sp>
      <p:pic>
        <p:nvPicPr>
          <p:cNvPr id="18" name="Picture 18" descr="C:\Users\tkdwns1004\Desktop\강좌 디자인\4페이지\로고-01.png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20229" y="311894"/>
            <a:ext cx="1322388" cy="390525"/>
          </a:xfrm>
          <a:prstGeom prst="rect">
            <a:avLst/>
          </a:prstGeom>
          <a:noFill/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50855" y="6329542"/>
            <a:ext cx="438150" cy="3714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536890" y="6325353"/>
            <a:ext cx="387439" cy="40957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801536" y="6460418"/>
            <a:ext cx="349661" cy="366718"/>
          </a:xfrm>
          <a:prstGeom prst="rect">
            <a:avLst/>
          </a:prstGeom>
        </p:spPr>
      </p:pic>
      <p:sp>
        <p:nvSpPr>
          <p:cNvPr id="13" name="슬라이드 번호 개체 틀 3"/>
          <p:cNvSpPr txBox="1"/>
          <p:nvPr/>
        </p:nvSpPr>
        <p:spPr>
          <a:xfrm>
            <a:off x="11693467" y="6482351"/>
            <a:ext cx="529222" cy="30456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fld id="{869B9C15-EE6A-4E25-9E9A-0D3F04B50FBB}" type="slidenum">
              <a:rPr lang="en-US" altLang="ko-KR" b="1">
                <a:solidFill>
                  <a:schemeClr val="tx1"/>
                </a:solidFill>
              </a:rPr>
              <a:pPr lvl="0" algn="ctr">
                <a:defRPr/>
              </a:pPr>
              <a:t>‹#›</a:t>
            </a:fld>
            <a:endParaRPr lang="en-US" altLang="ko-KR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876" y="0"/>
            <a:ext cx="12195876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31504" y="816620"/>
            <a:ext cx="9819684" cy="1866901"/>
          </a:xfrm>
        </p:spPr>
        <p:txBody>
          <a:bodyPr anchor="ctr" anchorCtr="0">
            <a:normAutofit/>
          </a:bodyPr>
          <a:lstStyle>
            <a:lvl1pPr algn="r">
              <a:defRPr sz="4400" b="1">
                <a:solidFill>
                  <a:srgbClr val="2C6C9A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84609" y="4293096"/>
            <a:ext cx="7613650" cy="2063253"/>
          </a:xfrm>
        </p:spPr>
        <p:txBody>
          <a:bodyPr>
            <a:normAutofit/>
          </a:bodyPr>
          <a:lstStyle>
            <a:lvl1pPr marL="457200" indent="-457200">
              <a:buFont typeface="Wingdings"/>
              <a:buChar char="§"/>
              <a:defRPr sz="28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776520" y="6356349"/>
            <a:ext cx="389313" cy="365125"/>
          </a:xfrm>
        </p:spPr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520978" y="6339723"/>
            <a:ext cx="389313" cy="365125"/>
          </a:xfrm>
        </p:spPr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6110" b="61300"/>
          <a:stretch>
            <a:fillRect/>
          </a:stretch>
        </p:blipFill>
        <p:spPr>
          <a:xfrm>
            <a:off x="0" y="455194"/>
            <a:ext cx="12192000" cy="15494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 hasCustomPrompt="1"/>
          </p:nvPr>
        </p:nvSpPr>
        <p:spPr>
          <a:xfrm>
            <a:off x="222702" y="962726"/>
            <a:ext cx="11840961" cy="5574432"/>
          </a:xfrm>
        </p:spPr>
        <p:txBody>
          <a:bodyPr>
            <a:noAutofit/>
          </a:bodyPr>
          <a:lstStyle>
            <a:lvl1pPr marL="216000" indent="0">
              <a:spcBef>
                <a:spcPts val="1000"/>
              </a:spcBef>
              <a:spcAft>
                <a:spcPts val="1300"/>
              </a:spcAft>
              <a:buFontTx/>
              <a:buNone/>
              <a:defRPr sz="2200" b="0" baseline="0">
                <a:latin typeface="나눔바른고딕OTF"/>
                <a:ea typeface="나눔바른고딕OTF"/>
              </a:defRPr>
            </a:lvl1pPr>
            <a:lvl2pPr marL="432000" indent="-252000">
              <a:lnSpc>
                <a:spcPts val="2500"/>
              </a:lnSpc>
              <a:spcBef>
                <a:spcPts val="500"/>
              </a:spcBef>
              <a:spcAft>
                <a:spcPts val="500"/>
              </a:spcAft>
              <a:buFont typeface="Wingdings"/>
              <a:buChar char="§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2pPr>
            <a:lvl3pPr marL="468000" indent="-360000">
              <a:spcBef>
                <a:spcPts val="300"/>
              </a:spcBef>
              <a:spcAft>
                <a:spcPts val="500"/>
              </a:spcAft>
              <a:buSzPct val="150000"/>
              <a:buFontTx/>
              <a:buBlip>
                <a:blip r:embed="rId3"/>
              </a:buBlip>
              <a:defRPr sz="1800" baseline="0">
                <a:solidFill>
                  <a:srgbClr val="0070C0"/>
                </a:solidFill>
                <a:latin typeface="나눔바른고딕OTF"/>
                <a:ea typeface="나눔바른고딕OTF"/>
              </a:defRPr>
            </a:lvl3pPr>
            <a:lvl4pPr marL="720000" indent="-228600">
              <a:lnSpc>
                <a:spcPts val="2300"/>
              </a:lnSpc>
              <a:spcBef>
                <a:spcPts val="200"/>
              </a:spcBef>
              <a:spcAft>
                <a:spcPts val="300"/>
              </a:spcAft>
              <a:buFont typeface="Wingdings"/>
              <a:buChar char="§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4pPr>
            <a:lvl5pPr marL="1008000" indent="-228600">
              <a:spcBef>
                <a:spcPts val="100"/>
              </a:spcBef>
              <a:spcAft>
                <a:spcPts val="500"/>
              </a:spcAft>
              <a:buFont typeface="나눔바른고딕OTF Light"/>
              <a:buChar char="-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5pPr>
          </a:lstStyle>
          <a:p>
            <a:pPr lvl="0">
              <a:defRPr/>
            </a:pPr>
            <a:r>
              <a:rPr lang="ko-KR" altLang="en-US"/>
              <a:t>첫째 수준</a:t>
            </a:r>
          </a:p>
          <a:p>
            <a:pPr lvl="1">
              <a:defRPr/>
            </a:pPr>
            <a:r>
              <a:rPr lang="ko-KR" altLang="en-US"/>
              <a:t>둘째 수준 </a:t>
            </a:r>
            <a:r>
              <a:rPr lang="en-US" altLang="ko-KR"/>
              <a:t>(</a:t>
            </a:r>
            <a:r>
              <a:rPr lang="ko-KR" altLang="en-US"/>
              <a:t>내용</a:t>
            </a:r>
            <a:r>
              <a:rPr lang="en-US" altLang="ko-KR"/>
              <a:t>)</a:t>
            </a:r>
          </a:p>
          <a:p>
            <a:pPr lvl="2">
              <a:defRPr/>
            </a:pPr>
            <a:r>
              <a:rPr lang="ko-KR" altLang="en-US" sz="1800">
                <a:solidFill>
                  <a:srgbClr val="0070C0"/>
                </a:solidFill>
                <a:latin typeface="나눔바른고딕OTF"/>
                <a:ea typeface="나눔바른고딕OTF"/>
              </a:rPr>
              <a:t>세째수준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284"/>
          </a:xfrm>
        </p:spPr>
        <p:txBody>
          <a:bodyPr>
            <a:noAutofit/>
          </a:bodyPr>
          <a:lstStyle>
            <a:lvl1pPr algn="ctr">
              <a:defRPr sz="3200">
                <a:solidFill>
                  <a:srgbClr val="F47D29"/>
                </a:solidFill>
                <a:latin typeface="나눔바른고딕OTF"/>
                <a:ea typeface="나눔바른고딕OTF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521900" y="6339723"/>
            <a:ext cx="389313" cy="365125"/>
          </a:xfrm>
        </p:spPr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520978" y="6339723"/>
            <a:ext cx="389313" cy="365125"/>
          </a:xfrm>
        </p:spPr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6110" b="61300"/>
          <a:stretch>
            <a:fillRect/>
          </a:stretch>
        </p:blipFill>
        <p:spPr>
          <a:xfrm>
            <a:off x="0" y="455194"/>
            <a:ext cx="12192000" cy="15494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42515" y="-640"/>
            <a:ext cx="4506972" cy="657866"/>
          </a:xfrm>
          <a:prstGeom prst="rect">
            <a:avLst/>
          </a:prstGeom>
        </p:spPr>
      </p:pic>
      <p:pic>
        <p:nvPicPr>
          <p:cNvPr id="18" name="Picture 18" descr="C:\Users\tkdwns1004\Desktop\강좌 디자인\4페이지\로고-01.png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32504" y="80628"/>
            <a:ext cx="1322388" cy="390525"/>
          </a:xfrm>
          <a:prstGeom prst="rect">
            <a:avLst/>
          </a:prstGeom>
          <a:noFill/>
        </p:spPr>
      </p:pic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377641" y="6355428"/>
            <a:ext cx="666947" cy="3045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400">
                <a:ea typeface="굴림"/>
              </a:defRPr>
            </a:lvl1pPr>
          </a:lstStyle>
          <a:p>
            <a:pPr lvl="0">
              <a:defRPr/>
            </a:pPr>
            <a:fld id="{869B9C15-EE6A-4E25-9E9A-0D3F04B50FBB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  <p:sp>
        <p:nvSpPr>
          <p:cNvPr id="15" name="내용 개체 틀 2"/>
          <p:cNvSpPr>
            <a:spLocks noGrp="1"/>
          </p:cNvSpPr>
          <p:nvPr>
            <p:ph idx="11" hasCustomPrompt="1"/>
          </p:nvPr>
        </p:nvSpPr>
        <p:spPr>
          <a:xfrm>
            <a:off x="216426" y="297186"/>
            <a:ext cx="4128459" cy="360040"/>
          </a:xfrm>
        </p:spPr>
        <p:txBody>
          <a:bodyPr/>
          <a:lstStyle>
            <a:lvl1pPr marL="0" indent="252000">
              <a:spcAft>
                <a:spcPts val="1000"/>
              </a:spcAft>
              <a:buFontTx/>
              <a:buBlip>
                <a:blip r:embed="rId4"/>
              </a:buBlip>
              <a:defRPr sz="1600" b="0" baseline="0">
                <a:solidFill>
                  <a:schemeClr val="bg1"/>
                </a:solidFill>
                <a:latin typeface="나눔바른고딕OTF"/>
                <a:ea typeface="나눔바른고딕OTF"/>
              </a:defRPr>
            </a:lvl1pPr>
            <a:lvl2pPr marL="540000">
              <a:defRPr sz="1800" baseline="0"/>
            </a:lvl2pPr>
            <a:lvl3pPr marL="540000" indent="-360000">
              <a:spcBef>
                <a:spcPts val="0"/>
              </a:spcBef>
              <a:spcAft>
                <a:spcPts val="500"/>
              </a:spcAft>
              <a:buFontTx/>
              <a:buBlip>
                <a:blip r:embed="rId5"/>
              </a:buBlip>
              <a:defRPr sz="2000"/>
            </a:lvl3pPr>
          </a:lstStyle>
          <a:p>
            <a:pPr lvl="0">
              <a:defRPr/>
            </a:pPr>
            <a:r>
              <a:rPr lang="ko-KR" altLang="en-US"/>
              <a:t>부제목 입력칸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03549" y="944724"/>
            <a:ext cx="10846229" cy="4932548"/>
          </a:xfrm>
        </p:spPr>
        <p:txBody>
          <a:bodyPr>
            <a:noAutofit/>
          </a:bodyPr>
          <a:lstStyle>
            <a:lvl1pPr marL="216000" indent="0">
              <a:spcBef>
                <a:spcPts val="1000"/>
              </a:spcBef>
              <a:spcAft>
                <a:spcPts val="1300"/>
              </a:spcAft>
              <a:buFontTx/>
              <a:buNone/>
              <a:defRPr sz="2200" b="0" baseline="0">
                <a:latin typeface="나눔바른고딕OTF"/>
                <a:ea typeface="나눔바른고딕OTF"/>
              </a:defRPr>
            </a:lvl1pPr>
            <a:lvl2pPr marL="432000" indent="-252000">
              <a:lnSpc>
                <a:spcPts val="2500"/>
              </a:lnSpc>
              <a:spcBef>
                <a:spcPts val="500"/>
              </a:spcBef>
              <a:spcAft>
                <a:spcPts val="500"/>
              </a:spcAft>
              <a:buFont typeface="Wingdings"/>
              <a:buChar char="§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2pPr>
            <a:lvl3pPr marL="468000" indent="-360000">
              <a:spcBef>
                <a:spcPts val="300"/>
              </a:spcBef>
              <a:spcAft>
                <a:spcPts val="500"/>
              </a:spcAft>
              <a:buSzPct val="150000"/>
              <a:buFontTx/>
              <a:buBlip>
                <a:blip r:embed="rId6"/>
              </a:buBlip>
              <a:defRPr sz="1800" baseline="0">
                <a:solidFill>
                  <a:srgbClr val="0070C0"/>
                </a:solidFill>
                <a:latin typeface="나눔바른고딕OTF"/>
                <a:ea typeface="나눔바른고딕OTF"/>
              </a:defRPr>
            </a:lvl3pPr>
            <a:lvl4pPr marL="720000" indent="-228600">
              <a:lnSpc>
                <a:spcPts val="2300"/>
              </a:lnSpc>
              <a:spcBef>
                <a:spcPts val="200"/>
              </a:spcBef>
              <a:spcAft>
                <a:spcPts val="300"/>
              </a:spcAft>
              <a:buFont typeface="Wingdings"/>
              <a:buChar char="§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4pPr>
            <a:lvl5pPr marL="1008000" indent="-228600">
              <a:spcBef>
                <a:spcPts val="100"/>
              </a:spcBef>
              <a:spcAft>
                <a:spcPts val="500"/>
              </a:spcAft>
              <a:buFont typeface="나눔바른고딕OTF Light"/>
              <a:buChar char="-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5pPr>
          </a:lstStyle>
          <a:p>
            <a:pPr lvl="0">
              <a:defRPr/>
            </a:pPr>
            <a:r>
              <a:rPr lang="ko-KR" altLang="en-US"/>
              <a:t>첫째 수준</a:t>
            </a:r>
          </a:p>
          <a:p>
            <a:pPr lvl="1">
              <a:defRPr/>
            </a:pPr>
            <a:r>
              <a:rPr lang="ko-KR" altLang="en-US"/>
              <a:t>둘째 수준 </a:t>
            </a:r>
            <a:r>
              <a:rPr lang="en-US" altLang="ko-KR"/>
              <a:t>(</a:t>
            </a:r>
            <a:r>
              <a:rPr lang="ko-KR" altLang="en-US"/>
              <a:t>내용</a:t>
            </a:r>
            <a:r>
              <a:rPr lang="en-US" altLang="ko-KR"/>
              <a:t>)</a:t>
            </a:r>
          </a:p>
          <a:p>
            <a:pPr lvl="2">
              <a:defRPr/>
            </a:pPr>
            <a:r>
              <a:rPr lang="ko-KR" altLang="en-US" sz="1800">
                <a:solidFill>
                  <a:srgbClr val="0070C0"/>
                </a:solidFill>
                <a:latin typeface="나눔바른고딕OTF"/>
                <a:ea typeface="나눔바른고딕OTF"/>
              </a:rPr>
              <a:t>세째수준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 hasCustomPrompt="1"/>
          </p:nvPr>
        </p:nvSpPr>
        <p:spPr>
          <a:xfrm>
            <a:off x="3068291" y="4248"/>
            <a:ext cx="5976665" cy="643394"/>
          </a:xfrm>
        </p:spPr>
        <p:txBody>
          <a:bodyPr/>
          <a:lstStyle>
            <a:lvl1pPr algn="ctr">
              <a:defRPr sz="2400" b="1">
                <a:solidFill>
                  <a:srgbClr val="3A729A"/>
                </a:solidFill>
                <a:latin typeface="나눔바른고딕OTF"/>
                <a:ea typeface="나눔바른고딕OTF"/>
              </a:defRPr>
            </a:lvl1pPr>
          </a:lstStyle>
          <a:p>
            <a:pPr lvl="0" algn="ctr">
              <a:defRPr/>
            </a:pPr>
            <a:r>
              <a:rPr lang="ko-KR" altLang="en-US">
                <a:solidFill>
                  <a:srgbClr val="7395AD"/>
                </a:solidFill>
                <a:latin typeface="나눔바른고딕OTF"/>
                <a:ea typeface="나눔바른고딕OTF"/>
              </a:rPr>
              <a:t>제목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376" y="6489340"/>
            <a:ext cx="82449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CopyrightⒸ </a:t>
            </a:r>
            <a:r>
              <a:rPr lang="ko-KR" altLang="en-US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2020 By Hiecheol</a:t>
            </a:r>
            <a:r>
              <a:rPr lang="ko-KR" altLang="en-US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Kim.</a:t>
            </a:r>
            <a:r>
              <a:rPr lang="ko-KR" altLang="en-US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All</a:t>
            </a:r>
            <a:r>
              <a:rPr lang="ko-KR" altLang="en-US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rights reserved.</a:t>
            </a:r>
            <a:r>
              <a:rPr lang="ko-KR" altLang="en-US" sz="1000" i="1">
                <a:solidFill>
                  <a:srgbClr val="666666"/>
                </a:solidFill>
                <a:latin typeface="나눔바른고딕OTF"/>
                <a:ea typeface="나눔바른고딕OTF"/>
              </a:rPr>
              <a:t> 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C:\Users\tkdwns1004\Desktop\강좌 디자인\4페이지\로고-01.pn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20227" y="252413"/>
            <a:ext cx="1322388" cy="390525"/>
          </a:xfrm>
          <a:prstGeom prst="rect">
            <a:avLst/>
          </a:prstGeom>
          <a:noFill/>
        </p:spPr>
      </p:pic>
      <p:sp>
        <p:nvSpPr>
          <p:cNvPr id="25" name="제목 1"/>
          <p:cNvSpPr>
            <a:spLocks noGrp="1"/>
          </p:cNvSpPr>
          <p:nvPr>
            <p:ph type="title"/>
          </p:nvPr>
        </p:nvSpPr>
        <p:spPr>
          <a:xfrm>
            <a:off x="3035660" y="908720"/>
            <a:ext cx="5868652" cy="132556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3200" b="1">
                <a:solidFill>
                  <a:srgbClr val="344B5A"/>
                </a:solidFill>
                <a:latin typeface="나눔바른고딕OTF"/>
                <a:ea typeface="나눔바른고딕OTF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8" y="-1036"/>
            <a:ext cx="12192000" cy="6859036"/>
          </a:xfrm>
          <a:prstGeom prst="rect">
            <a:avLst/>
          </a:prstGeom>
          <a:solidFill>
            <a:srgbClr val="7395AD"/>
          </a:solidFill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71664" y="-640"/>
            <a:ext cx="6048672" cy="65786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748" y="277889"/>
            <a:ext cx="73146" cy="396207"/>
          </a:xfrm>
          <a:prstGeom prst="rect">
            <a:avLst/>
          </a:prstGeom>
        </p:spPr>
      </p:pic>
      <p:pic>
        <p:nvPicPr>
          <p:cNvPr id="18" name="Picture 18" descr="C:\Users\tkdwns1004\Desktop\강좌 디자인\4페이지\로고-01.png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620227" y="116632"/>
            <a:ext cx="1322388" cy="390525"/>
          </a:xfrm>
          <a:prstGeom prst="rect">
            <a:avLst/>
          </a:prstGeom>
          <a:noFill/>
        </p:spPr>
      </p:pic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377641" y="6355428"/>
            <a:ext cx="666947" cy="3045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400">
                <a:ea typeface="굴림"/>
              </a:defRPr>
            </a:lvl1pPr>
          </a:lstStyle>
          <a:p>
            <a:pPr lvl="0">
              <a:defRPr/>
            </a:pPr>
            <a:fld id="{869B9C15-EE6A-4E25-9E9A-0D3F04B50FBB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  <p:sp>
        <p:nvSpPr>
          <p:cNvPr id="15" name="내용 개체 틀 2"/>
          <p:cNvSpPr>
            <a:spLocks noGrp="1"/>
          </p:cNvSpPr>
          <p:nvPr>
            <p:ph idx="11" hasCustomPrompt="1"/>
          </p:nvPr>
        </p:nvSpPr>
        <p:spPr>
          <a:xfrm>
            <a:off x="216426" y="297186"/>
            <a:ext cx="4128459" cy="360040"/>
          </a:xfrm>
        </p:spPr>
        <p:txBody>
          <a:bodyPr/>
          <a:lstStyle>
            <a:lvl1pPr marL="0" indent="252000">
              <a:spcAft>
                <a:spcPts val="1000"/>
              </a:spcAft>
              <a:buFontTx/>
              <a:buBlip>
                <a:blip r:embed="rId6"/>
              </a:buBlip>
              <a:defRPr sz="1600" b="0" baseline="0">
                <a:solidFill>
                  <a:schemeClr val="bg1"/>
                </a:solidFill>
                <a:latin typeface="나눔바른고딕OTF"/>
                <a:ea typeface="나눔바른고딕OTF"/>
              </a:defRPr>
            </a:lvl1pPr>
            <a:lvl2pPr marL="540000">
              <a:defRPr sz="1800" baseline="0"/>
            </a:lvl2pPr>
            <a:lvl3pPr marL="540000" indent="-360000">
              <a:spcBef>
                <a:spcPts val="0"/>
              </a:spcBef>
              <a:spcAft>
                <a:spcPts val="500"/>
              </a:spcAft>
              <a:buFontTx/>
              <a:buBlip>
                <a:blip r:embed="rId7"/>
              </a:buBlip>
              <a:defRPr sz="2000"/>
            </a:lvl3pPr>
          </a:lstStyle>
          <a:p>
            <a:pPr lvl="0">
              <a:defRPr/>
            </a:pPr>
            <a:r>
              <a:rPr lang="ko-KR" altLang="en-US"/>
              <a:t>부제목 입력칸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87388" y="872716"/>
            <a:ext cx="11233248" cy="5472608"/>
          </a:xfrm>
        </p:spPr>
        <p:txBody>
          <a:bodyPr>
            <a:noAutofit/>
          </a:bodyPr>
          <a:lstStyle>
            <a:lvl1pPr marL="216000" indent="0">
              <a:spcBef>
                <a:spcPts val="1000"/>
              </a:spcBef>
              <a:spcAft>
                <a:spcPts val="1300"/>
              </a:spcAft>
              <a:buFontTx/>
              <a:buNone/>
              <a:defRPr sz="2200" b="0" baseline="0">
                <a:latin typeface="나눔바른고딕OTF"/>
                <a:ea typeface="나눔바른고딕OTF"/>
              </a:defRPr>
            </a:lvl1pPr>
            <a:lvl2pPr marL="432000" indent="-252000">
              <a:lnSpc>
                <a:spcPts val="2500"/>
              </a:lnSpc>
              <a:spcBef>
                <a:spcPts val="500"/>
              </a:spcBef>
              <a:spcAft>
                <a:spcPts val="500"/>
              </a:spcAft>
              <a:buFont typeface="Wingdings"/>
              <a:buChar char="§"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2pPr>
            <a:lvl3pPr marL="468000" indent="-360000">
              <a:spcBef>
                <a:spcPts val="300"/>
              </a:spcBef>
              <a:spcAft>
                <a:spcPts val="500"/>
              </a:spcAft>
              <a:buSzPct val="150000"/>
              <a:buFontTx/>
              <a:buBlip>
                <a:blip r:embed="rId8"/>
              </a:buBlip>
              <a:defRPr sz="2000" baseline="0">
                <a:solidFill>
                  <a:srgbClr val="0070C0"/>
                </a:solidFill>
                <a:latin typeface="나눔바른고딕OTF"/>
                <a:ea typeface="나눔바른고딕OTF"/>
              </a:defRPr>
            </a:lvl3pPr>
            <a:lvl4pPr marL="720000" indent="-22860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Wingdings"/>
              <a:buChar char="§"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4pPr>
            <a:lvl5pPr marL="1008000" indent="-22860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Font typeface="나눔바른고딕OTF Light"/>
              <a:buChar char="-"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5pPr>
          </a:lstStyle>
          <a:p>
            <a:pPr lvl="0">
              <a:defRPr/>
            </a:pPr>
            <a:r>
              <a:rPr lang="ko-KR" altLang="en-US"/>
              <a:t>첫째 수준</a:t>
            </a:r>
          </a:p>
          <a:p>
            <a:pPr lvl="1">
              <a:defRPr/>
            </a:pPr>
            <a:r>
              <a:rPr lang="ko-KR" altLang="en-US"/>
              <a:t>둘째 수준 </a:t>
            </a:r>
            <a:r>
              <a:rPr lang="en-US" altLang="ko-KR"/>
              <a:t>(</a:t>
            </a:r>
            <a:r>
              <a:rPr lang="ko-KR" altLang="en-US"/>
              <a:t>내용</a:t>
            </a:r>
            <a:r>
              <a:rPr lang="en-US" altLang="ko-KR"/>
              <a:t>)</a:t>
            </a:r>
          </a:p>
          <a:p>
            <a:pPr lvl="2">
              <a:defRPr/>
            </a:pPr>
            <a:r>
              <a:rPr lang="ko-KR" altLang="en-US" sz="1800">
                <a:solidFill>
                  <a:srgbClr val="0070C0"/>
                </a:solidFill>
                <a:latin typeface="나눔바른고딕OTF"/>
                <a:ea typeface="나눔바른고딕OTF"/>
              </a:rPr>
              <a:t>세째수준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 hasCustomPrompt="1"/>
          </p:nvPr>
        </p:nvSpPr>
        <p:spPr>
          <a:xfrm>
            <a:off x="3068291" y="4248"/>
            <a:ext cx="5976665" cy="643394"/>
          </a:xfrm>
        </p:spPr>
        <p:txBody>
          <a:bodyPr/>
          <a:lstStyle>
            <a:lvl1pPr algn="ctr">
              <a:defRPr sz="2400" b="1">
                <a:solidFill>
                  <a:srgbClr val="3A729A"/>
                </a:solidFill>
                <a:latin typeface="나눔바른고딕OTF"/>
                <a:ea typeface="나눔바른고딕OTF"/>
              </a:defRPr>
            </a:lvl1pPr>
          </a:lstStyle>
          <a:p>
            <a:pPr lvl="0" algn="ctr">
              <a:defRPr/>
            </a:pPr>
            <a:r>
              <a:rPr lang="ko-KR" altLang="en-US">
                <a:solidFill>
                  <a:srgbClr val="7395AD"/>
                </a:solidFill>
                <a:latin typeface="나눔바른고딕OTF"/>
                <a:ea typeface="나눔바른고딕OTF"/>
              </a:rPr>
              <a:t>제목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3352" y="512676"/>
            <a:ext cx="27825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CopyrightⒸ </a:t>
            </a:r>
            <a:r>
              <a:rPr lang="ko-KR" altLang="en-US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2020 By Hiecheol</a:t>
            </a:r>
            <a:r>
              <a:rPr lang="ko-KR" altLang="en-US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Kim.</a:t>
            </a:r>
            <a:r>
              <a:rPr lang="ko-KR" altLang="en-US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All</a:t>
            </a:r>
            <a:r>
              <a:rPr lang="ko-KR" altLang="en-US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 </a:t>
            </a:r>
            <a:r>
              <a:rPr lang="en-US" altLang="ko-KR" sz="800" i="1">
                <a:solidFill>
                  <a:schemeClr val="bg1">
                    <a:lumMod val="85000"/>
                  </a:schemeClr>
                </a:solidFill>
                <a:latin typeface="나눔바른고딕OTF"/>
                <a:ea typeface="나눔바른고딕OTF"/>
              </a:rPr>
              <a:t>rights reserved.</a:t>
            </a:r>
            <a:endParaRPr lang="ko-KR" altLang="en-US" sz="800" i="1">
              <a:solidFill>
                <a:schemeClr val="bg1">
                  <a:lumMod val="85000"/>
                </a:schemeClr>
              </a:solidFill>
              <a:latin typeface="나눔바른고딕OTF"/>
              <a:ea typeface="나눔바른고딕OTF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88389" cy="685800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683735" y="2223592"/>
            <a:ext cx="6824530" cy="3708413"/>
          </a:xfrm>
          <a:prstGeom prst="rect">
            <a:avLst/>
          </a:prstGeom>
          <a:solidFill>
            <a:schemeClr val="bg1">
              <a:alpha val="70000"/>
            </a:schemeClr>
          </a:solidFill>
          <a:ln w="38100" cap="flat" cmpd="sng" algn="ctr">
            <a:solidFill>
              <a:srgbClr val="7395AD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0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바른고딕OTF"/>
              <a:ea typeface="나눔바른고딕OTF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755740" y="1760247"/>
            <a:ext cx="5148572" cy="0"/>
          </a:xfrm>
          <a:prstGeom prst="line">
            <a:avLst/>
          </a:prstGeom>
          <a:solidFill>
            <a:schemeClr val="accent1"/>
          </a:solidFill>
          <a:ln w="63500" cap="flat" cmpd="thinThick" algn="ctr">
            <a:solidFill>
              <a:srgbClr val="7395AD">
                <a:alpha val="99000"/>
              </a:srgbClr>
            </a:solidFill>
            <a:prstDash val="solid"/>
            <a:round/>
            <a:headEnd w="med" len="med"/>
            <a:tailEnd w="med" len="med"/>
          </a:ln>
          <a:effectLst>
            <a:outerShdw blurRad="88900" dist="38100" dir="2700000" algn="tl" rotWithShape="0">
              <a:prstClr val="black">
                <a:alpha val="33000"/>
              </a:prstClr>
            </a:outerShdw>
          </a:effectLst>
        </p:spPr>
      </p:cxnSp>
      <p:pic>
        <p:nvPicPr>
          <p:cNvPr id="19" name="Picture 18" descr="C:\Users\tkdwns1004\Desktop\강좌 디자인\4페이지\로고-01.png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20227" y="252413"/>
            <a:ext cx="1322388" cy="390525"/>
          </a:xfrm>
          <a:prstGeom prst="rect">
            <a:avLst/>
          </a:prstGeom>
          <a:noFill/>
        </p:spPr>
      </p:pic>
      <p:sp>
        <p:nvSpPr>
          <p:cNvPr id="25" name="제목 1"/>
          <p:cNvSpPr>
            <a:spLocks noGrp="1"/>
          </p:cNvSpPr>
          <p:nvPr>
            <p:ph type="title" hasCustomPrompt="1"/>
          </p:nvPr>
        </p:nvSpPr>
        <p:spPr>
          <a:xfrm>
            <a:off x="3035660" y="666357"/>
            <a:ext cx="5868652" cy="1325563"/>
          </a:xfrm>
        </p:spPr>
        <p:txBody>
          <a:bodyPr>
            <a:normAutofit/>
          </a:bodyPr>
          <a:lstStyle>
            <a:lvl1pPr marL="0" indent="457200" algn="ctr">
              <a:buFontTx/>
              <a:buBlip>
                <a:blip r:embed="rId4"/>
              </a:buBlip>
              <a:defRPr sz="3200" b="1">
                <a:solidFill>
                  <a:srgbClr val="344B5A"/>
                </a:solidFill>
                <a:latin typeface="나눔바른고딕OTF"/>
                <a:ea typeface="나눔바른고딕OTF"/>
              </a:defRPr>
            </a:lvl1pPr>
          </a:lstStyle>
          <a:p>
            <a:pPr lvl="0">
              <a:defRPr/>
            </a:pPr>
            <a:r>
              <a:rPr lang="ko-KR" altLang="en-US"/>
              <a:t>주제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 hasCustomPrompt="1"/>
          </p:nvPr>
        </p:nvSpPr>
        <p:spPr>
          <a:xfrm>
            <a:off x="2693600" y="2227695"/>
            <a:ext cx="6814665" cy="3704310"/>
          </a:xfrm>
        </p:spPr>
        <p:txBody>
          <a:bodyPr anchor="ctr" anchorCtr="0"/>
          <a:lstStyle>
            <a:lvl1pPr marL="1080000" indent="-342900">
              <a:spcBef>
                <a:spcPts val="500"/>
              </a:spcBef>
              <a:spcAft>
                <a:spcPts val="500"/>
              </a:spcAft>
              <a:buSzPct val="100000"/>
              <a:buFontTx/>
              <a:buBlip>
                <a:blip r:embed="rId5"/>
              </a:buBlip>
              <a:defRPr sz="2200" baseline="0">
                <a:solidFill>
                  <a:srgbClr val="5E85A0"/>
                </a:solidFill>
                <a:latin typeface="나눔바른고딕OTF"/>
                <a:ea typeface="나눔바른고딕OTF"/>
              </a:defRPr>
            </a:lvl1pPr>
            <a:lvl2pPr marL="1440000" indent="-252000">
              <a:spcBef>
                <a:spcPts val="300"/>
              </a:spcBef>
              <a:spcAft>
                <a:spcPts val="300"/>
              </a:spcAft>
              <a:buFont typeface="Wingdings"/>
              <a:buChar char="§"/>
              <a:defRPr sz="2000" baseline="0">
                <a:solidFill>
                  <a:srgbClr val="7395AD"/>
                </a:solidFill>
                <a:latin typeface="나눔바른고딕OTF"/>
                <a:ea typeface="나눔바른고딕OTF"/>
              </a:defRPr>
            </a:lvl2pPr>
            <a:lvl3pPr marL="468000" indent="-360000">
              <a:spcBef>
                <a:spcPts val="300"/>
              </a:spcBef>
              <a:spcAft>
                <a:spcPts val="500"/>
              </a:spcAft>
              <a:buSzPct val="150000"/>
              <a:buFontTx/>
              <a:buBlip>
                <a:blip r:embed="rId6"/>
              </a:buBlip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3pPr>
            <a:lvl4pPr marL="720000" indent="-228600">
              <a:spcBef>
                <a:spcPts val="200"/>
              </a:spcBef>
              <a:spcAft>
                <a:spcPts val="500"/>
              </a:spcAft>
              <a:buFont typeface="Wingdings"/>
              <a:buChar char="§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4pPr>
            <a:lvl5pPr marL="1008000" indent="-228600">
              <a:spcBef>
                <a:spcPts val="100"/>
              </a:spcBef>
              <a:spcAft>
                <a:spcPts val="500"/>
              </a:spcAft>
              <a:buFont typeface="나눔바른고딕OTF Light"/>
              <a:buChar char="-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5pPr>
          </a:lstStyle>
          <a:p>
            <a:pPr lvl="0">
              <a:defRPr/>
            </a:pPr>
            <a:r>
              <a:rPr lang="ko-KR" altLang="en-US"/>
              <a:t>첫째 수준</a:t>
            </a:r>
          </a:p>
          <a:p>
            <a:pPr lvl="0">
              <a:defRPr/>
            </a:pPr>
            <a:r>
              <a:rPr lang="ko-KR" altLang="en-US"/>
              <a:t>첫째수준</a:t>
            </a:r>
          </a:p>
          <a:p>
            <a:pPr lvl="1">
              <a:defRPr/>
            </a:pPr>
            <a:r>
              <a:rPr lang="ko-KR" altLang="en-US"/>
              <a:t>둘째 수준 </a:t>
            </a:r>
            <a:r>
              <a:rPr lang="en-US" altLang="ko-KR"/>
              <a:t>(</a:t>
            </a:r>
            <a:r>
              <a:rPr lang="ko-KR" altLang="en-US"/>
              <a:t>내용</a:t>
            </a:r>
            <a:r>
              <a:rPr lang="en-US" altLang="ko-KR"/>
              <a:t>)</a:t>
            </a:r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95401" y="3940235"/>
            <a:ext cx="3240360" cy="1480522"/>
          </a:xfrm>
          <a:prstGeom prst="rect">
            <a:avLst/>
          </a:prstGeom>
          <a:solidFill>
            <a:schemeClr val="bg1">
              <a:alpha val="70000"/>
            </a:schemeClr>
          </a:solidFill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0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 hasCustomPrompt="1"/>
          </p:nvPr>
        </p:nvSpPr>
        <p:spPr>
          <a:xfrm>
            <a:off x="695401" y="3969060"/>
            <a:ext cx="3204355" cy="1455406"/>
          </a:xfrm>
        </p:spPr>
        <p:txBody>
          <a:bodyPr anchor="ctr" anchorCtr="0"/>
          <a:lstStyle>
            <a:lvl1pPr marL="432000" indent="-342900">
              <a:spcBef>
                <a:spcPts val="0"/>
              </a:spcBef>
              <a:spcAft>
                <a:spcPts val="500"/>
              </a:spcAft>
              <a:buSzPct val="100000"/>
              <a:buFontTx/>
              <a:buBlip>
                <a:blip r:embed="rId3"/>
              </a:buBlip>
              <a:defRPr sz="2200" baseline="0">
                <a:latin typeface="나눔바른고딕OTF"/>
                <a:ea typeface="나눔바른고딕OTF"/>
              </a:defRPr>
            </a:lvl1pPr>
            <a:lvl2pPr marL="2160000" indent="-252000">
              <a:spcBef>
                <a:spcPts val="300"/>
              </a:spcBef>
              <a:spcAft>
                <a:spcPts val="300"/>
              </a:spcAft>
              <a:buFont typeface="Wingdings"/>
              <a:buChar char="§"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2pPr>
            <a:lvl3pPr marL="468000" indent="-360000">
              <a:spcBef>
                <a:spcPts val="300"/>
              </a:spcBef>
              <a:spcAft>
                <a:spcPts val="500"/>
              </a:spcAft>
              <a:buSzPct val="150000"/>
              <a:buFontTx/>
              <a:buBlip>
                <a:blip r:embed="rId4"/>
              </a:buBlip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3pPr>
            <a:lvl4pPr marL="720000" indent="-228600">
              <a:spcBef>
                <a:spcPts val="200"/>
              </a:spcBef>
              <a:spcAft>
                <a:spcPts val="500"/>
              </a:spcAft>
              <a:buFont typeface="Wingdings"/>
              <a:buChar char="§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4pPr>
            <a:lvl5pPr marL="1008000" indent="-228600">
              <a:spcBef>
                <a:spcPts val="100"/>
              </a:spcBef>
              <a:spcAft>
                <a:spcPts val="500"/>
              </a:spcAft>
              <a:buFont typeface="나눔바른고딕OTF Light"/>
              <a:buChar char="-"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"/>
                <a:ea typeface="나눔바른고딕OTF"/>
              </a:defRPr>
            </a:lvl5pPr>
          </a:lstStyle>
          <a:p>
            <a:pPr lvl="0">
              <a:defRPr/>
            </a:pPr>
            <a:r>
              <a:rPr lang="ko-KR" altLang="en-US"/>
              <a:t>첫째 소제목</a:t>
            </a:r>
          </a:p>
          <a:p>
            <a:pPr lvl="0">
              <a:defRPr/>
            </a:pPr>
            <a:r>
              <a:rPr lang="ko-KR" altLang="en-US"/>
              <a:t>둘째 소제목</a:t>
            </a:r>
            <a:endParaRPr lang="en-US" altLang="ko-K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7CEC7FD-F76F-44B8-8FAE-7BEA484A65DF}" type="datetime1">
              <a:rPr lang="ko-KR" altLang="en-US"/>
              <a:pPr lvl="0">
                <a:defRPr/>
              </a:pPr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546378" y="6339723"/>
            <a:ext cx="38931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382F7EB-AD3B-44A3-8534-F9CBAF4974C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5" r:id="rId4"/>
    <p:sldLayoutId id="2147483650" r:id="rId5"/>
    <p:sldLayoutId id="2147483654" r:id="rId6"/>
    <p:sldLayoutId id="2147483660" r:id="rId7"/>
    <p:sldLayoutId id="2147483652" r:id="rId8"/>
    <p:sldLayoutId id="2147483653" r:id="rId9"/>
    <p:sldLayoutId id="2147483656" r:id="rId10"/>
    <p:sldLayoutId id="2147483657" r:id="rId11"/>
    <p:sldLayoutId id="2147483658" r:id="rId12"/>
    <p:sldLayoutId id="2147483659" r:id="rId13"/>
    <p:sldLayoutId id="2147483664" r:id="rId14"/>
    <p:sldLayoutId id="2147483665" r:id="rId15"/>
    <p:sldLayoutId id="2147483667" r:id="rId16"/>
    <p:sldLayoutId id="2147483668" r:id="rId17"/>
    <p:sldLayoutId id="2147483669" r:id="rId18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법률상담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1127448" y="3861048"/>
            <a:ext cx="7994104" cy="2843799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작품 개요</a:t>
            </a:r>
          </a:p>
          <a:p>
            <a:pPr lvl="0">
              <a:defRPr/>
            </a:pPr>
            <a:r>
              <a:rPr lang="ko-KR" altLang="en-US" dirty="0"/>
              <a:t>학습데이터 구축</a:t>
            </a:r>
          </a:p>
          <a:p>
            <a:pPr lvl="0">
              <a:defRPr/>
            </a:pPr>
            <a:r>
              <a:rPr lang="ko-KR" altLang="en-US" dirty="0"/>
              <a:t>모델 아키텍처</a:t>
            </a:r>
          </a:p>
          <a:p>
            <a:pPr lvl="0">
              <a:defRPr/>
            </a:pPr>
            <a:r>
              <a:rPr lang="ko-KR" altLang="en-US" dirty="0"/>
              <a:t>모델의 훈련 및 검증</a:t>
            </a: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제목 5"/>
          <p:cNvSpPr txBox="1"/>
          <p:nvPr/>
        </p:nvSpPr>
        <p:spPr>
          <a:xfrm>
            <a:off x="792752" y="223139"/>
            <a:ext cx="10847864" cy="86793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dirty="0"/>
              <a:t>졸업작품 보고서 </a:t>
            </a:r>
            <a:r>
              <a:rPr lang="en-US" altLang="ko-KR" sz="2800" dirty="0"/>
              <a:t>: 2025. 5. 13</a:t>
            </a:r>
          </a:p>
          <a:p>
            <a:pPr lvl="0">
              <a:defRPr/>
            </a:pPr>
            <a:r>
              <a:rPr lang="ko-KR" altLang="en-US" sz="2800" dirty="0"/>
              <a:t>                       </a:t>
            </a:r>
            <a:r>
              <a:rPr lang="ko-KR" altLang="en-US" sz="2400" dirty="0"/>
              <a:t>김두한</a:t>
            </a:r>
            <a:r>
              <a:rPr lang="en-US" altLang="ko-KR" sz="2400" dirty="0"/>
              <a:t>, </a:t>
            </a:r>
            <a:r>
              <a:rPr lang="ko-KR" altLang="en-US" sz="2400" dirty="0"/>
              <a:t>김민석</a:t>
            </a:r>
            <a:r>
              <a:rPr lang="en-US" altLang="ko-KR" sz="2400" dirty="0"/>
              <a:t>, </a:t>
            </a:r>
            <a:r>
              <a:rPr lang="ko-KR" altLang="en-US" sz="2400" dirty="0"/>
              <a:t>김지환</a:t>
            </a:r>
            <a:r>
              <a:rPr lang="en-US" altLang="ko-KR" sz="2400" dirty="0"/>
              <a:t>, </a:t>
            </a:r>
            <a:r>
              <a:rPr lang="ko-KR" altLang="en-US" sz="2400" dirty="0"/>
              <a:t>신영훈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83632" y="647700"/>
            <a:ext cx="8455868" cy="1866901"/>
          </a:xfrm>
        </p:spPr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작품 개요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작품 소개</a:t>
            </a:r>
          </a:p>
          <a:p>
            <a:pPr lvl="0">
              <a:defRPr/>
            </a:pPr>
            <a:r>
              <a:rPr lang="ko-KR" altLang="en-US"/>
              <a:t>개발 및 사용 환경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작품 소개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4897098E-20C6-A9F3-B2AF-89F09BBD1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5828431"/>
          </a:xfrm>
        </p:spPr>
        <p:txBody>
          <a:bodyPr/>
          <a:lstStyle/>
          <a:p>
            <a:pPr lvl="0">
              <a:defRPr/>
            </a:pPr>
            <a:r>
              <a:rPr lang="ko-KR" altLang="en-US" dirty="0"/>
              <a:t>목적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법률상담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챗봇의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주된 목적은 법률 서비스를 보다 접근하기 쉽고 효율적으로 제공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모델을 한국어로만 학습하여 한국어에 특화된 법률 내용의 자연어 처리 작업에 사용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일반적인 법률 서비스는 종종 고비용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긴 대기 시간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복잡한 절차 등으로 인해 이용자에게 부담을 줄 수 있지만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챗봇을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활용하면 법률 상담을 빠르고 간편하게 받을 수 있어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법적 문제에 직면한 사람들에게 실질적인 도움을 줄 수 있음</a:t>
            </a: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0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프로그램 기능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민사법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Q&amp;A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데이터를 활용하여 민사법 관련 법적문제를 보다 쉽게 해결할 수 있음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민사법 분야에서 중요한 판례나 사례를 제공하고 유사한 사건에 대한 판결을 참고 할 수 기능을 갖고 있음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marL="432000" lvl="1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작품 제작 과정</a:t>
            </a:r>
          </a:p>
        </p:txBody>
      </p:sp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작품 소개</a:t>
            </a:r>
          </a:p>
        </p:txBody>
      </p:sp>
      <p:pic>
        <p:nvPicPr>
          <p:cNvPr id="5" name="그림 4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264060-64EE-4F7D-0874-6DC326110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87" y="1721415"/>
            <a:ext cx="1768278" cy="176827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611FB2-1DF2-20A0-D173-28C92DCF4806}"/>
              </a:ext>
            </a:extLst>
          </p:cNvPr>
          <p:cNvSpPr txBox="1"/>
          <p:nvPr/>
        </p:nvSpPr>
        <p:spPr>
          <a:xfrm>
            <a:off x="6001046" y="1593334"/>
            <a:ext cx="1346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LLAMA 3.1</a:t>
            </a:r>
          </a:p>
          <a:p>
            <a:r>
              <a:rPr lang="ko-KR" altLang="en-US" dirty="0"/>
              <a:t>모델 로드</a:t>
            </a:r>
          </a:p>
        </p:txBody>
      </p:sp>
      <p:pic>
        <p:nvPicPr>
          <p:cNvPr id="29" name="그림 28" descr="노랑, 스마일리, 이모티콘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3B9F74-3473-0B7D-B73E-F2BEE870C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547" y="2193747"/>
            <a:ext cx="3098208" cy="823615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52D2A0CA-5B05-B0AA-C665-892C3B7ED9F1}"/>
              </a:ext>
            </a:extLst>
          </p:cNvPr>
          <p:cNvSpPr/>
          <p:nvPr/>
        </p:nvSpPr>
        <p:spPr>
          <a:xfrm>
            <a:off x="6054764" y="2331708"/>
            <a:ext cx="1673531" cy="39355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62CA57-5D05-870F-29E1-1F93F1BEC6C6}"/>
              </a:ext>
            </a:extLst>
          </p:cNvPr>
          <p:cNvSpPr txBox="1"/>
          <p:nvPr/>
        </p:nvSpPr>
        <p:spPr>
          <a:xfrm>
            <a:off x="6011865" y="2851869"/>
            <a:ext cx="167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허깅페이스</a:t>
            </a:r>
            <a:endParaRPr lang="en-US" altLang="ko-KR" dirty="0"/>
          </a:p>
          <a:p>
            <a:r>
              <a:rPr lang="ko-KR" altLang="en-US" dirty="0"/>
              <a:t>데이터셋 로드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9E0C14B-65B5-4EC1-4192-04F6B9F4A1C4}"/>
              </a:ext>
            </a:extLst>
          </p:cNvPr>
          <p:cNvSpPr/>
          <p:nvPr/>
        </p:nvSpPr>
        <p:spPr>
          <a:xfrm>
            <a:off x="8444942" y="1952876"/>
            <a:ext cx="1512168" cy="1289866"/>
          </a:xfrm>
          <a:prstGeom prst="roundRect">
            <a:avLst/>
          </a:prstGeom>
          <a:solidFill>
            <a:srgbClr val="DEE9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모델 학습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3EA99E89-BBBF-15C4-D7DE-B050FD9BBD22}"/>
              </a:ext>
            </a:extLst>
          </p:cNvPr>
          <p:cNvSpPr/>
          <p:nvPr/>
        </p:nvSpPr>
        <p:spPr>
          <a:xfrm>
            <a:off x="1029206" y="5387181"/>
            <a:ext cx="864096" cy="288032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F47611-9469-4662-7098-9567339CCC4B}"/>
              </a:ext>
            </a:extLst>
          </p:cNvPr>
          <p:cNvSpPr txBox="1"/>
          <p:nvPr/>
        </p:nvSpPr>
        <p:spPr>
          <a:xfrm>
            <a:off x="577115" y="4719522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모델 저장</a:t>
            </a:r>
          </a:p>
        </p:txBody>
      </p:sp>
      <p:pic>
        <p:nvPicPr>
          <p:cNvPr id="37" name="그림 36" descr="원, 상징, 라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A7A8D4-E1F8-F0BF-827B-F211415D1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090" y="4251778"/>
            <a:ext cx="2143125" cy="2143125"/>
          </a:xfrm>
          <a:prstGeom prst="rect">
            <a:avLst/>
          </a:prstGeom>
        </p:spPr>
      </p:pic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F084B80B-4D42-E552-5C6F-FF9BB7305AF0}"/>
              </a:ext>
            </a:extLst>
          </p:cNvPr>
          <p:cNvSpPr/>
          <p:nvPr/>
        </p:nvSpPr>
        <p:spPr>
          <a:xfrm>
            <a:off x="6674874" y="5449950"/>
            <a:ext cx="864096" cy="288032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B28AA-064E-7660-D4A9-F0051BFEA5D4}"/>
              </a:ext>
            </a:extLst>
          </p:cNvPr>
          <p:cNvSpPr txBox="1"/>
          <p:nvPr/>
        </p:nvSpPr>
        <p:spPr>
          <a:xfrm>
            <a:off x="6094242" y="4677009"/>
            <a:ext cx="235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웹 프로그래밍 및 </a:t>
            </a:r>
            <a:endParaRPr lang="en-US" altLang="ko-KR" dirty="0"/>
          </a:p>
          <a:p>
            <a:r>
              <a:rPr lang="ko-KR" altLang="en-US" dirty="0" err="1"/>
              <a:t>프론트엔드</a:t>
            </a:r>
            <a:r>
              <a:rPr lang="ko-KR" altLang="en-US" dirty="0"/>
              <a:t> 구현</a:t>
            </a:r>
          </a:p>
        </p:txBody>
      </p:sp>
      <p:pic>
        <p:nvPicPr>
          <p:cNvPr id="41" name="그림 40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D0AFA7-5795-E773-5937-CF3D438BA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654" y="4199997"/>
            <a:ext cx="2243760" cy="2243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하드웨어 및 </a:t>
            </a:r>
            <a:r>
              <a:rPr lang="en-US" altLang="ko-KR" dirty="0"/>
              <a:t>OS</a:t>
            </a:r>
            <a:r>
              <a:rPr lang="ko-KR" altLang="en-US" dirty="0"/>
              <a:t> </a:t>
            </a:r>
          </a:p>
          <a:p>
            <a:pPr lvl="2">
              <a:defRPr/>
            </a:pPr>
            <a:r>
              <a:rPr lang="en-US" altLang="ko-KR" dirty="0"/>
              <a:t>OS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Colab</a:t>
            </a:r>
            <a:r>
              <a:rPr lang="en-US" altLang="ko-KR" dirty="0"/>
              <a:t> Pro</a:t>
            </a:r>
          </a:p>
          <a:p>
            <a:pPr lvl="2">
              <a:defRPr/>
            </a:pPr>
            <a:r>
              <a:rPr lang="en-US" altLang="ko-KR" dirty="0"/>
              <a:t>A100 GPU (</a:t>
            </a:r>
            <a:r>
              <a:rPr lang="en-US" altLang="ko-KR" dirty="0" err="1"/>
              <a:t>vram</a:t>
            </a:r>
            <a:r>
              <a:rPr lang="en-US" altLang="ko-KR" dirty="0"/>
              <a:t> 40GB), 83GB RAM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소프트웨어 </a:t>
            </a:r>
          </a:p>
          <a:p>
            <a:pPr lvl="1">
              <a:defRPr/>
            </a:pPr>
            <a:r>
              <a:rPr lang="ko-KR" altLang="en-US" dirty="0"/>
              <a:t>작품에 사용하는 패키지 목록</a:t>
            </a:r>
            <a:r>
              <a:rPr lang="en-US" altLang="ko-KR" dirty="0"/>
              <a:t>	</a:t>
            </a:r>
          </a:p>
          <a:p>
            <a:pPr marL="216000" lvl="0" indent="0">
              <a:buNone/>
              <a:defRPr/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개발 및 실행 환경</a:t>
            </a:r>
          </a:p>
        </p:txBody>
      </p:sp>
      <p:graphicFrame>
        <p:nvGraphicFramePr>
          <p:cNvPr id="4" name="내용 개체 틀 3"/>
          <p:cNvGraphicFramePr/>
          <p:nvPr>
            <p:extLst>
              <p:ext uri="{D42A27DB-BD31-4B8C-83A1-F6EECF244321}">
                <p14:modId xmlns:p14="http://schemas.microsoft.com/office/powerpoint/2010/main" val="4220102390"/>
              </p:ext>
            </p:extLst>
          </p:nvPr>
        </p:nvGraphicFramePr>
        <p:xfrm>
          <a:off x="1127448" y="3429000"/>
          <a:ext cx="8930168" cy="3249280"/>
        </p:xfrm>
        <a:graphic>
          <a:graphicData uri="http://schemas.openxmlformats.org/drawingml/2006/table">
            <a:tbl>
              <a:tblPr/>
              <a:tblGrid>
                <a:gridCol w="2773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6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구분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비고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python</a:t>
                      </a:r>
                      <a:endParaRPr lang="ko-KR" altLang="en-US" sz="180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 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3.10</a:t>
                      </a:r>
                      <a:endParaRPr lang="ko-KR" altLang="en-US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Python Package</a:t>
                      </a:r>
                      <a:endParaRPr lang="ko-KR" altLang="en-US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Unsloth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FastLanguageModel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(https://huggingface.co/unsloth)</a:t>
                      </a:r>
                      <a:b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HuggingFace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SFTTrainer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Transformers - </a:t>
                      </a:r>
                      <a:r>
                        <a:rPr lang="en-US" altLang="ko-KR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TrainingArguments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Torch, Torch Vision, Wandb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Tools</a:t>
                      </a:r>
                      <a:endParaRPr lang="ko-KR" alt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Google </a:t>
                      </a:r>
                      <a:r>
                        <a:rPr lang="en-US" altLang="ko-KR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colab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, Visual Studio, </a:t>
                      </a:r>
                      <a:r>
                        <a:rPr lang="en-US" altLang="ko-KR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Jupyter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 Notebook, </a:t>
                      </a:r>
                      <a:r>
                        <a:rPr lang="en-US" altLang="ko-KR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InteliJ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, </a:t>
                      </a:r>
                      <a:r>
                        <a:rPr lang="en-US" altLang="ko-KR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Sping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 Boot, Bootstrap, CSS, HTML, JavaScript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79CEA8-B694-9EC4-9920-AFE55FCBD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Unsloth</a:t>
            </a:r>
            <a:endParaRPr lang="en-US" altLang="ko-KR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학습 속도와 효율을 극대화하는 가속화 프레임워크</a:t>
            </a:r>
            <a:endParaRPr lang="en-US" altLang="ko-KR" b="0" dirty="0">
              <a:solidFill>
                <a:srgbClr val="0D0D0D"/>
              </a:solidFill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D0D0D"/>
                </a:solidFill>
                <a:latin typeface="ui-sans-serif"/>
              </a:rPr>
              <a:t>-</a:t>
            </a: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Colab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무료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GPU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에서도 </a:t>
            </a: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LLaMA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3 8B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파인튜닝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 가능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학습 속도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: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약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4~5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배 향상</a:t>
            </a: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b="0" dirty="0">
                <a:solidFill>
                  <a:srgbClr val="0D0D0D"/>
                </a:solidFill>
                <a:latin typeface="ui-sans-serif"/>
              </a:rPr>
              <a:t>다양한 </a:t>
            </a:r>
            <a:r>
              <a:rPr lang="en-US" altLang="ko-KR" b="0" dirty="0" err="1">
                <a:solidFill>
                  <a:srgbClr val="0D0D0D"/>
                </a:solidFill>
                <a:latin typeface="ui-sans-serif"/>
              </a:rPr>
              <a:t>LLama</a:t>
            </a:r>
            <a:r>
              <a:rPr lang="en-US" altLang="ko-KR" b="0" dirty="0">
                <a:solidFill>
                  <a:srgbClr val="0D0D0D"/>
                </a:solidFill>
                <a:latin typeface="ui-sans-serif"/>
              </a:rPr>
              <a:t> </a:t>
            </a:r>
            <a:r>
              <a:rPr lang="ko-KR" altLang="en-US" b="0" dirty="0">
                <a:solidFill>
                  <a:srgbClr val="0D0D0D"/>
                </a:solidFill>
                <a:latin typeface="ui-sans-serif"/>
              </a:rPr>
              <a:t>모델 지원</a:t>
            </a:r>
            <a:endParaRPr lang="en-US" altLang="ko-KR" b="0" dirty="0">
              <a:solidFill>
                <a:srgbClr val="0D0D0D"/>
              </a:solidFill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출처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: https://huggingface.co/blog/unsloth-trl</a:t>
            </a:r>
            <a:endParaRPr lang="ko-KR" altLang="en-US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198B3F9-EC4F-BA6F-A609-CE0484544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적용 기술</a:t>
            </a:r>
          </a:p>
        </p:txBody>
      </p:sp>
      <p:pic>
        <p:nvPicPr>
          <p:cNvPr id="5" name="그림 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1B6C55-8AAD-F00A-9AD2-FFA608FEC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3976293"/>
            <a:ext cx="7780694" cy="2385267"/>
          </a:xfrm>
          <a:prstGeom prst="rect">
            <a:avLst/>
          </a:prstGeom>
        </p:spPr>
      </p:pic>
      <p:pic>
        <p:nvPicPr>
          <p:cNvPr id="8" name="그림 7" descr="그래픽, 상징, 만화 영화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582C6D-B4AB-6005-D538-C1ACDBB58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521872"/>
            <a:ext cx="4205149" cy="147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4349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20953-CC47-101C-09B0-5DBF270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적용 기술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1" name="내용 개체 틀 10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B294BC7-EBDA-5C05-DA32-7F0AAC597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3645024"/>
            <a:ext cx="5641237" cy="2782112"/>
          </a:xfrm>
        </p:spPr>
      </p:pic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87F53EFB-732C-75DE-3182-9878AA38090A}"/>
              </a:ext>
            </a:extLst>
          </p:cNvPr>
          <p:cNvSpPr txBox="1">
            <a:spLocks/>
          </p:cNvSpPr>
          <p:nvPr/>
        </p:nvSpPr>
        <p:spPr>
          <a:xfrm>
            <a:off x="119336" y="980728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3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SFT Trainer</a:t>
            </a:r>
            <a:endParaRPr lang="ko-KR" altLang="en-US" dirty="0"/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Hugging Face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의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TRL(Transformers Reinforcement Learning)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라이브러리에서 제공하는 특화된 </a:t>
            </a:r>
            <a:r>
              <a:rPr lang="en-US" altLang="ko-KR" b="0" dirty="0">
                <a:solidFill>
                  <a:srgbClr val="0D0D0D"/>
                </a:solidFill>
                <a:latin typeface="ui-sans-serif"/>
              </a:rPr>
              <a:t>fine-tuning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트레이너로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LLM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을 대화형 형식에 맞게 간단하게</a:t>
            </a:r>
            <a:r>
              <a:rPr lang="ko-KR" altLang="en-US" b="0" dirty="0">
                <a:solidFill>
                  <a:srgbClr val="0D0D0D"/>
                </a:solidFill>
                <a:latin typeface="ui-sans-serif"/>
              </a:rPr>
              <a:t> </a:t>
            </a:r>
            <a:r>
              <a:rPr lang="en-US" altLang="ko-KR" b="0" dirty="0">
                <a:solidFill>
                  <a:srgbClr val="0D0D0D"/>
                </a:solidFill>
                <a:latin typeface="ui-sans-serif"/>
              </a:rPr>
              <a:t>Supervised</a:t>
            </a:r>
            <a:r>
              <a:rPr lang="ko-KR" altLang="en-US" b="0" dirty="0">
                <a:solidFill>
                  <a:srgbClr val="0D0D0D"/>
                </a:solidFill>
                <a:latin typeface="ui-sans-serif"/>
              </a:rPr>
              <a:t> </a:t>
            </a:r>
            <a:r>
              <a:rPr lang="en-US" altLang="ko-KR" b="0" dirty="0">
                <a:solidFill>
                  <a:srgbClr val="0D0D0D"/>
                </a:solidFill>
                <a:latin typeface="ui-sans-serif"/>
              </a:rPr>
              <a:t>learning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할 수 있도록 도와주는 도구</a:t>
            </a: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LORA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와 통합되어 대규모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LLM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을 소량의 데이터로 빠르게 학습 가능</a:t>
            </a: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marL="285750" indent="-285750">
              <a:buFontTx/>
              <a:buChar char="-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파라미터 효율적 미세조정 가능</a:t>
            </a: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rgbClr val="0D0D0D"/>
                </a:solidFill>
                <a:latin typeface="ui-sans-serif"/>
              </a:rPr>
              <a:t>Llama3.1 </a:t>
            </a:r>
            <a:r>
              <a:rPr lang="ko-KR" altLang="en-US" b="0" dirty="0">
                <a:solidFill>
                  <a:srgbClr val="0D0D0D"/>
                </a:solidFill>
                <a:latin typeface="ui-sans-serif"/>
              </a:rPr>
              <a:t>모델 학습에도 사용되었으며 이번 과제에 데이터셋에도 적절하게 사용할 수 있음</a:t>
            </a:r>
            <a:endParaRPr lang="ko-KR" altLang="en-US" dirty="0"/>
          </a:p>
          <a:p>
            <a:pPr marL="21600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49245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개요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개발 업무 분장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A29D607-D524-5353-7B70-59F46D6A6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0003543"/>
              </p:ext>
            </p:extLst>
          </p:nvPr>
        </p:nvGraphicFramePr>
        <p:xfrm>
          <a:off x="1343472" y="1292104"/>
          <a:ext cx="9001000" cy="5163724"/>
        </p:xfrm>
        <a:graphic>
          <a:graphicData uri="http://schemas.openxmlformats.org/drawingml/2006/table">
            <a:tbl>
              <a:tblPr/>
              <a:tblGrid>
                <a:gridCol w="1965652">
                  <a:extLst>
                    <a:ext uri="{9D8B030D-6E8A-4147-A177-3AD203B41FA5}">
                      <a16:colId xmlns:a16="http://schemas.microsoft.com/office/drawing/2014/main" val="1601691482"/>
                    </a:ext>
                  </a:extLst>
                </a:gridCol>
                <a:gridCol w="7035348">
                  <a:extLst>
                    <a:ext uri="{9D8B030D-6E8A-4147-A177-3AD203B41FA5}">
                      <a16:colId xmlns:a16="http://schemas.microsoft.com/office/drawing/2014/main" val="698812497"/>
                    </a:ext>
                  </a:extLst>
                </a:gridCol>
              </a:tblGrid>
              <a:tr h="5462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44904"/>
                  </a:ext>
                </a:extLst>
              </a:tr>
              <a:tr h="12997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김지환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팀장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프로젝트 관리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유사 프로젝트 및 작품 탐색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3873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모델 및 데이터셋 조사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학습 모델 코딩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웹 프로그래밍 개발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49240" marR="49240" marT="24619" marB="24619">
                    <a:lnL w="12700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838784"/>
                  </a:ext>
                </a:extLst>
              </a:tr>
              <a:tr h="11779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김두한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모델 및 데이터셋 조사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학습 모델 코딩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모델 학습 및 테스트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웹 프로그래밍 개발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49240" marR="49240" marT="24619" marB="24619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212402"/>
                  </a:ext>
                </a:extLst>
              </a:tr>
              <a:tr h="573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김민석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모델 및 데이터셋 조사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학습 모델 코딩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모델 성능 개선 및 분석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웹 프로그래밍 개발</a:t>
                      </a:r>
                      <a:endParaRPr lang="ko-KR" altLang="en-US" dirty="0"/>
                    </a:p>
                  </a:txBody>
                  <a:tcPr marL="49240" marR="49240" marT="24619" marB="24619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503819"/>
                  </a:ext>
                </a:extLst>
              </a:tr>
              <a:tr h="573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신영훈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dirty="0"/>
                        <a:t>모델 조사</a:t>
                      </a:r>
                      <a:endParaRPr lang="en-US" altLang="ko-KR" dirty="0"/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dirty="0"/>
                        <a:t>학습 모델 코딩</a:t>
                      </a:r>
                      <a:endParaRPr lang="en-US" altLang="ko-KR" dirty="0"/>
                    </a:p>
                    <a:p>
                      <a:pPr marL="3873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dirty="0"/>
                        <a:t>모델 성능 개선 및 분석</a:t>
                      </a:r>
                    </a:p>
                  </a:txBody>
                  <a:tcPr marL="49240" marR="49240" marT="24619" marB="24619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29169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83632" y="647700"/>
            <a:ext cx="8455868" cy="1866901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2. </a:t>
            </a:r>
            <a:r>
              <a:rPr lang="ko-KR" altLang="en-US"/>
              <a:t>학습 데이터 구축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1284609" y="4581128"/>
            <a:ext cx="7613650" cy="177522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학습데이터 구축</a:t>
            </a:r>
          </a:p>
          <a:p>
            <a:pPr lvl="0">
              <a:defRPr/>
            </a:pPr>
            <a:r>
              <a:rPr lang="ko-KR" altLang="en-US"/>
              <a:t>진행현황 및 향후계획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개요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학습데이터 구축</a:t>
            </a:r>
          </a:p>
        </p:txBody>
      </p:sp>
      <p:graphicFrame>
        <p:nvGraphicFramePr>
          <p:cNvPr id="5" name="내용 개체 틀 3"/>
          <p:cNvGraphicFramePr/>
          <p:nvPr>
            <p:extLst>
              <p:ext uri="{D42A27DB-BD31-4B8C-83A1-F6EECF244321}">
                <p14:modId xmlns:p14="http://schemas.microsoft.com/office/powerpoint/2010/main" val="3660121729"/>
              </p:ext>
            </p:extLst>
          </p:nvPr>
        </p:nvGraphicFramePr>
        <p:xfrm>
          <a:off x="1415480" y="2564904"/>
          <a:ext cx="9004332" cy="2532066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4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46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구분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제목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0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개요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8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HuggingFace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법률상담 질문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답변 데이터셋 약 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56,000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건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92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출처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1800" u="sng" dirty="0">
                          <a:solidFill>
                            <a:srgbClr val="0000FF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+mn-lt"/>
                          <a:ea typeface="맑은 고딕"/>
                        </a:rPr>
                        <a:t>https://huggingface.co/datasets/zzunyang/LawQA_LawSee</a:t>
                      </a:r>
                      <a:endParaRPr lang="en-US" sz="1800" u="sng" dirty="0">
                        <a:solidFill>
                          <a:srgbClr val="0000FF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48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규모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질문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대화 내용 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(56,358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세트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570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8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파일구성</a:t>
                      </a:r>
                      <a:endParaRPr lang="ko-KR" altLang="en-US" sz="18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lvl="0" indent="-2857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  <a:defRPr/>
                      </a:pPr>
                      <a:r>
                        <a:rPr lang="en-US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zzunyang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LawQA_LawSee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한국어 법률 질문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답변 데이터셋 원본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387350" marR="0" lvl="0" indent="-2857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jihye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-moon/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LawQA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-Ko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5078A4C-BF0C-AD4E-2C12-F4FD8000A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499839"/>
          </a:xfrm>
        </p:spPr>
        <p:txBody>
          <a:bodyPr/>
          <a:lstStyle/>
          <a:p>
            <a:r>
              <a:rPr lang="ko-KR" altLang="en-US" dirty="0"/>
              <a:t>학습 데이터 정제</a:t>
            </a:r>
            <a:endParaRPr lang="en-US" altLang="ko-KR" dirty="0"/>
          </a:p>
          <a:p>
            <a:pPr marL="216000" indent="0">
              <a:buNone/>
            </a:pPr>
            <a:r>
              <a:rPr lang="ko-KR" altLang="en-US" dirty="0"/>
              <a:t>모델의 학습시간과 </a:t>
            </a:r>
            <a:r>
              <a:rPr lang="ko-KR" altLang="en-US" dirty="0" err="1"/>
              <a:t>필요없는</a:t>
            </a:r>
            <a:r>
              <a:rPr lang="ko-KR" altLang="en-US" dirty="0"/>
              <a:t> 문장들을 제거한후 핵심내용을 요약하여 데이터셋 재생성</a:t>
            </a:r>
            <a:endParaRPr lang="en-US" altLang="ko-KR" dirty="0"/>
          </a:p>
          <a:p>
            <a:pPr marL="216000" indent="0">
              <a:buNone/>
            </a:pPr>
            <a:r>
              <a:rPr lang="en-US" altLang="ko-KR" dirty="0"/>
              <a:t>Chat GPT</a:t>
            </a:r>
            <a:r>
              <a:rPr lang="ko-KR" altLang="en-US" dirty="0"/>
              <a:t>를 통해 대량의 데이터셋 요약 자동화</a:t>
            </a:r>
            <a:endParaRPr lang="en-US" altLang="ko-KR" dirty="0"/>
          </a:p>
          <a:p>
            <a:pPr marL="21600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A2F552-8325-DD2A-0B51-E3B1F479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학습데이터 구축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C765B5-E8B1-5D7C-43FA-9A8A604D80CF}"/>
              </a:ext>
            </a:extLst>
          </p:cNvPr>
          <p:cNvSpPr/>
          <p:nvPr/>
        </p:nvSpPr>
        <p:spPr>
          <a:xfrm>
            <a:off x="6312024" y="2636912"/>
            <a:ext cx="5418541" cy="3888432"/>
          </a:xfrm>
          <a:prstGeom prst="rect">
            <a:avLst/>
          </a:prstGeom>
          <a:solidFill>
            <a:srgbClr val="DEE9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ctr"/>
            <a:r>
              <a:rPr lang="en-US" altLang="ko-KR" sz="1600" b="1" i="0" dirty="0">
                <a:solidFill>
                  <a:srgbClr val="0D0D0D"/>
                </a:solidFill>
                <a:effectLst/>
                <a:latin typeface="ui-sans-serif"/>
              </a:rPr>
              <a:t>  instruction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: "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남편이 유부남임을 숨기고 술집 여성과 연락하며 외도를 했습니다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이런 상황에서 </a:t>
            </a:r>
            <a:r>
              <a:rPr lang="ko-KR" altLang="en-US" sz="1600" i="0" dirty="0" err="1">
                <a:solidFill>
                  <a:srgbClr val="0D0D0D"/>
                </a:solidFill>
                <a:effectLst/>
                <a:latin typeface="ui-sans-serif"/>
              </a:rPr>
              <a:t>유책배우자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 이혼소송으로 위자료를 받고 싶은데 어떻게 해야 하나요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?“</a:t>
            </a:r>
          </a:p>
          <a:p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  </a:t>
            </a:r>
            <a:r>
              <a:rPr lang="en-US" altLang="ko-KR" sz="1600" b="1" i="0" dirty="0">
                <a:solidFill>
                  <a:srgbClr val="0D0D0D"/>
                </a:solidFill>
                <a:effectLst/>
                <a:latin typeface="ui-sans-serif"/>
              </a:rPr>
              <a:t>Input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:””</a:t>
            </a:r>
          </a:p>
          <a:p>
            <a:pPr algn="ctr"/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en-US" altLang="ko-KR" sz="1600" b="1" i="0" dirty="0">
                <a:solidFill>
                  <a:srgbClr val="0D0D0D"/>
                </a:solidFill>
                <a:effectLst/>
                <a:latin typeface="ui-sans-serif"/>
              </a:rPr>
              <a:t>output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: "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배우자의 외도와 같은 부정행위가 입증된다면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600" i="0" dirty="0" err="1">
                <a:solidFill>
                  <a:srgbClr val="0D0D0D"/>
                </a:solidFill>
                <a:effectLst/>
                <a:latin typeface="ui-sans-serif"/>
              </a:rPr>
              <a:t>유책배우자에게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 이혼을 청구하고 위자료를 청구할 수 있습니다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이 경우 문자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사진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통화기록 등 외도의 증거가 중요하며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일반적으로 위자료는 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1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천만 원에서 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3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천만 원 사이로 판결되는 경우가 많습니다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sz="1600" i="0" dirty="0">
                <a:solidFill>
                  <a:srgbClr val="0D0D0D"/>
                </a:solidFill>
                <a:effectLst/>
                <a:latin typeface="ui-sans-serif"/>
              </a:rPr>
              <a:t>증거 수집이 어려울 경우에는 법률전문가의 도움을 받는 것이 좋습니다</a:t>
            </a:r>
            <a:r>
              <a:rPr lang="en-US" altLang="ko-KR" sz="1600" i="0" dirty="0">
                <a:solidFill>
                  <a:srgbClr val="0D0D0D"/>
                </a:solidFill>
                <a:effectLst/>
                <a:latin typeface="ui-sans-serif"/>
              </a:rPr>
              <a:t>."</a:t>
            </a:r>
          </a:p>
          <a:p>
            <a:pPr algn="ctr"/>
            <a:endParaRPr lang="en-US" altLang="ko-KR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08F473-948D-422D-0D86-88830329C504}"/>
              </a:ext>
            </a:extLst>
          </p:cNvPr>
          <p:cNvSpPr/>
          <p:nvPr/>
        </p:nvSpPr>
        <p:spPr>
          <a:xfrm>
            <a:off x="122159" y="2636912"/>
            <a:ext cx="4821713" cy="3888432"/>
          </a:xfrm>
          <a:prstGeom prst="rect">
            <a:avLst/>
          </a:prstGeom>
          <a:solidFill>
            <a:srgbClr val="DEE9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rgbClr val="0D0D0D"/>
                </a:solidFill>
                <a:effectLst/>
                <a:latin typeface="ui-sans-serif"/>
              </a:rPr>
              <a:t>instruction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: "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유책배우자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 이혼소송 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위자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 남편이 영업직 일을 하는데 거래처사장님들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가끔씩만나서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술먹고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딱히 걱정할 일이 없다고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저한테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말을 했었습니다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그런데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남편폰으로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배달시킨다고 제가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남편폰을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만지고 있었는데 이번에는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사장님들이랑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올거야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?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오빠만 오면 안돼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?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이런 카톡이 오더라고요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뭔가싶어서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보니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술집여자랑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몇개월째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연락하고 있었더라고요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지금 피가 거꾸로 솟는 느낌이고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유책배우자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이혼소송으로 최대한 위자료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받고싶은데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어떡해야 하는지요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?</a:t>
            </a:r>
          </a:p>
          <a:p>
            <a:r>
              <a:rPr lang="en-US" altLang="ko-KR" sz="1000" b="1" i="0" dirty="0">
                <a:solidFill>
                  <a:srgbClr val="0D0D0D"/>
                </a:solidFill>
                <a:effectLst/>
                <a:latin typeface="ui-sans-serif"/>
              </a:rPr>
              <a:t>  input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: "",</a:t>
            </a:r>
          </a:p>
          <a:p>
            <a:pPr algn="ctr"/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en-US" altLang="ko-KR" sz="1000" b="1" i="0" dirty="0">
                <a:solidFill>
                  <a:srgbClr val="0D0D0D"/>
                </a:solidFill>
                <a:effectLst/>
                <a:latin typeface="ui-sans-serif"/>
              </a:rPr>
              <a:t>output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: "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배우자의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사유로 인해 혼인을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이어나가게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될 수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없게된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경우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유책배우자이혼소송으로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부정행위를 저지른 상대방에게 위자료를 청구할 수 있는데요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위자료를 청구하게 되는 법적 분쟁에서 가장 자주 등장하는 것은 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'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외도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'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와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'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폭력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'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이며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유책배우자이혼소송시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상대의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유책성을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증명하려면 상대의 불륜증거를 제시할 수 있어야 합니다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만약 증거를 제시하여 입증이 가능하다면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유책배우자에게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1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천만원 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~ 3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천만원 사이의 위자료를 받아 본인의 정신적 피해를 조금이라도 보상받을 수 있습니다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하지만 일상생활을 하면서 갑자기 배우자의 불륜사실을 알게 되었다면 증거를 수집할 수 없기에 개인이 이를 입증하려고 나서기 보단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이혼전문로펌의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도움을 받는 편을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추천드리는데요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 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법무법인 대륜은 합법적으로 증거수집이 가능한 증거수집센터를 보유하고 있으며 각 분야별 전문변호사님이 상시 대기중이니 토요일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,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공휴일에도 </a:t>
            </a:r>
            <a:r>
              <a:rPr lang="ko-KR" altLang="en-US" sz="1000" b="0" i="0" dirty="0" err="1">
                <a:solidFill>
                  <a:srgbClr val="0D0D0D"/>
                </a:solidFill>
                <a:effectLst/>
                <a:latin typeface="ui-sans-serif"/>
              </a:rPr>
              <a:t>부담없이</a:t>
            </a:r>
            <a:r>
              <a:rPr lang="ko-KR" altLang="en-US" sz="1000" b="0" i="0" dirty="0">
                <a:solidFill>
                  <a:srgbClr val="0D0D0D"/>
                </a:solidFill>
                <a:effectLst/>
                <a:latin typeface="ui-sans-serif"/>
              </a:rPr>
              <a:t> 방문해주시길 바랍니다</a:t>
            </a:r>
            <a:r>
              <a:rPr lang="en-US" altLang="ko-KR" sz="1000" b="0" i="0" dirty="0">
                <a:solidFill>
                  <a:srgbClr val="0D0D0D"/>
                </a:solidFill>
                <a:effectLst/>
                <a:latin typeface="ui-sans-serif"/>
              </a:rPr>
              <a:t>."}</a:t>
            </a:r>
            <a:endParaRPr lang="ko-KR" altLang="en-US" sz="10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BF5485A-114B-F795-9C86-A8E08CD50B8B}"/>
              </a:ext>
            </a:extLst>
          </p:cNvPr>
          <p:cNvCxnSpPr>
            <a:cxnSpLocks/>
          </p:cNvCxnSpPr>
          <p:nvPr/>
        </p:nvCxnSpPr>
        <p:spPr>
          <a:xfrm flipH="1">
            <a:off x="5015880" y="3933056"/>
            <a:ext cx="1224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4B9A1DC-5C48-CE0C-35D1-5600E6AE13B9}"/>
              </a:ext>
            </a:extLst>
          </p:cNvPr>
          <p:cNvCxnSpPr>
            <a:cxnSpLocks/>
          </p:cNvCxnSpPr>
          <p:nvPr/>
        </p:nvCxnSpPr>
        <p:spPr>
          <a:xfrm>
            <a:off x="5015880" y="4869160"/>
            <a:ext cx="1296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0A2BBA-6AE9-5725-DF99-9183123C1C29}"/>
              </a:ext>
            </a:extLst>
          </p:cNvPr>
          <p:cNvSpPr txBox="1"/>
          <p:nvPr/>
        </p:nvSpPr>
        <p:spPr>
          <a:xfrm>
            <a:off x="5218754" y="3517042"/>
            <a:ext cx="89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4333C-60EF-39F9-CE27-EDB2B81F7D73}"/>
              </a:ext>
            </a:extLst>
          </p:cNvPr>
          <p:cNvSpPr txBox="1"/>
          <p:nvPr/>
        </p:nvSpPr>
        <p:spPr>
          <a:xfrm>
            <a:off x="5237652" y="4448886"/>
            <a:ext cx="87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After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65928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865F9E-E771-8BC9-C3FD-C58933E0E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0" y="912937"/>
            <a:ext cx="11982013" cy="1965729"/>
          </a:xfrm>
        </p:spPr>
        <p:txBody>
          <a:bodyPr/>
          <a:lstStyle/>
          <a:p>
            <a:r>
              <a:rPr lang="en-US" altLang="ko-KR" dirty="0"/>
              <a:t>Instruction Tuning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Pretrained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모델은 단순히 다음 단어를 예측할 뿐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사용자의 명령어 의도를 이해하진 못함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Instruction Tuning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은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사전학습된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 모델에게 ‘지시어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(prompt)’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를 따르는 능력을 부여하는 추가</a:t>
            </a: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Instruction Tuning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모델은 다양한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지시문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-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응답 쌍을 학습했기 때문에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자연어로 지시해도 정확하게 답변</a:t>
            </a: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marL="21600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1D07F4-7661-A79E-EB72-47197303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데이터 설계</a:t>
            </a:r>
          </a:p>
        </p:txBody>
      </p:sp>
      <p:pic>
        <p:nvPicPr>
          <p:cNvPr id="5" name="그림 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E805FC-0310-219E-8D63-A8E5C00B3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3" y="3396749"/>
            <a:ext cx="8606274" cy="278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3154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학습데이터 파일 구성</a:t>
            </a:r>
          </a:p>
          <a:p>
            <a:pPr lvl="2">
              <a:defRPr/>
            </a:pPr>
            <a:r>
              <a:rPr lang="ko-KR" altLang="en-US"/>
              <a:t>질문</a:t>
            </a:r>
            <a:r>
              <a:rPr lang="en-US" altLang="ko-KR"/>
              <a:t>(Instruction)</a:t>
            </a:r>
            <a:r>
              <a:rPr lang="ko-KR" altLang="en-US"/>
              <a:t>과 입력</a:t>
            </a:r>
            <a:r>
              <a:rPr lang="en-US" altLang="ko-KR"/>
              <a:t>(Input)</a:t>
            </a:r>
            <a:r>
              <a:rPr lang="ko-KR" altLang="en-US"/>
              <a:t> 그리고 출력</a:t>
            </a:r>
            <a:r>
              <a:rPr lang="en-US" altLang="ko-KR"/>
              <a:t>(Output)</a:t>
            </a:r>
            <a:r>
              <a:rPr lang="ko-KR" altLang="en-US"/>
              <a:t>의 형태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학습데이터 구축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4EF91A-DF08-A09E-C566-2FEE6AB93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161807"/>
            <a:ext cx="9121930" cy="3635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학습데이터 파일 구성</a:t>
            </a:r>
          </a:p>
          <a:p>
            <a:pPr lvl="2">
              <a:defRPr/>
            </a:pPr>
            <a:r>
              <a:rPr lang="en-US" altLang="ko-KR" dirty="0"/>
              <a:t>Llama3.1</a:t>
            </a:r>
            <a:r>
              <a:rPr lang="ko-KR" altLang="en-US" dirty="0"/>
              <a:t>모델에 적용하기 위해 여러 분야의 데이터셋을 </a:t>
            </a:r>
            <a:r>
              <a:rPr lang="en-US" altLang="ko-KR" dirty="0"/>
              <a:t>csv</a:t>
            </a:r>
            <a:r>
              <a:rPr lang="ko-KR" altLang="en-US" dirty="0"/>
              <a:t>파일로 수집 후 </a:t>
            </a:r>
            <a:r>
              <a:rPr lang="en-US" altLang="ko-KR" dirty="0" err="1"/>
              <a:t>Jsonl</a:t>
            </a:r>
            <a:r>
              <a:rPr lang="en-US" altLang="ko-KR" dirty="0"/>
              <a:t> </a:t>
            </a:r>
            <a:r>
              <a:rPr lang="ko-KR" altLang="en-US" dirty="0"/>
              <a:t>형태로 변환하여 </a:t>
            </a:r>
            <a:r>
              <a:rPr lang="ko-KR" altLang="en-US" dirty="0" err="1"/>
              <a:t>허깅페이스에</a:t>
            </a:r>
            <a:r>
              <a:rPr lang="ko-KR" altLang="en-US" dirty="0"/>
              <a:t> 저장 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학습데이터 구축 </a:t>
            </a:r>
          </a:p>
        </p:txBody>
      </p:sp>
      <p:pic>
        <p:nvPicPr>
          <p:cNvPr id="5" name="그림 4" descr="텍스트, 폰트, 스크린샷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EF869A-C488-F09D-34B4-5E3FD7D71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53" y="2564904"/>
            <a:ext cx="11607689" cy="36119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진행현황</a:t>
            </a:r>
          </a:p>
          <a:p>
            <a:pPr lvl="2">
              <a:defRPr/>
            </a:pPr>
            <a:r>
              <a:rPr lang="ko-KR" altLang="en-US" dirty="0"/>
              <a:t>학습을 위한 데이터셋 확보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데이터셋 </a:t>
            </a:r>
            <a:r>
              <a:rPr lang="ko-KR" altLang="en-US" dirty="0" err="1"/>
              <a:t>전처리</a:t>
            </a:r>
            <a:r>
              <a:rPr lang="ko-KR" altLang="en-US" dirty="0"/>
              <a:t> 및 </a:t>
            </a:r>
            <a:r>
              <a:rPr lang="ko-KR" altLang="en-US" dirty="0" err="1"/>
              <a:t>허깅페이스</a:t>
            </a:r>
            <a:r>
              <a:rPr lang="ko-KR" altLang="en-US" dirty="0"/>
              <a:t> 업로드</a:t>
            </a:r>
          </a:p>
          <a:p>
            <a:pPr lvl="2">
              <a:defRPr/>
            </a:pPr>
            <a:endParaRPr lang="ko-KR" altLang="en-US" dirty="0"/>
          </a:p>
          <a:p>
            <a:pPr marL="650250" lvl="2" indent="0">
              <a:buNone/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향후계획</a:t>
            </a:r>
          </a:p>
          <a:p>
            <a:pPr lvl="1">
              <a:defRPr/>
            </a:pPr>
            <a:r>
              <a:rPr lang="ko-KR" altLang="en-US" dirty="0"/>
              <a:t>법률 상담과 관련된 질문</a:t>
            </a:r>
            <a:r>
              <a:rPr lang="en-US" altLang="ko-KR" dirty="0"/>
              <a:t>, </a:t>
            </a:r>
            <a:r>
              <a:rPr lang="ko-KR" altLang="en-US" dirty="0"/>
              <a:t>답변 데이터셋 확보</a:t>
            </a:r>
            <a:r>
              <a:rPr lang="en-US" altLang="ko-KR" dirty="0"/>
              <a:t>(</a:t>
            </a:r>
            <a:r>
              <a:rPr lang="ko-KR" altLang="en-US" dirty="0"/>
              <a:t>모델학습 테스트 완료 시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여러 분야의 법률과 다양한 케이스의 사건들을 찾아 향후 데이터셋에 추가하여 고성능의 모델을 구축할 계획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모델의 성능과 학습 효율을 높이기 위하여 </a:t>
            </a:r>
            <a:r>
              <a:rPr lang="en-US" altLang="ko-KR" dirty="0"/>
              <a:t>ChatGPT</a:t>
            </a:r>
            <a:r>
              <a:rPr lang="ko-KR" altLang="en-US" dirty="0"/>
              <a:t>에서 데이터셋의 내용을 요약하고 답변이 없는 열은 삭제하여 데이터를 정제할 계획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진행현황 및 향후 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 </a:t>
            </a:r>
            <a:r>
              <a:rPr lang="ko-KR" altLang="en-US"/>
              <a:t>모델 아키텍처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모델의 아키텍처 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현황 및 향후계획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ko-KR" altLang="en-US" dirty="0"/>
              <a:t>개요</a:t>
            </a:r>
          </a:p>
          <a:p>
            <a:pPr marL="650250" lvl="2" indent="0">
              <a:buNone/>
              <a:defRPr/>
            </a:pPr>
            <a:r>
              <a:rPr lang="en-US" altLang="ko-KR" b="1" dirty="0"/>
              <a:t>Llama 3.1 </a:t>
            </a:r>
          </a:p>
          <a:p>
            <a:pPr lvl="2">
              <a:defRPr/>
            </a:pPr>
            <a:endParaRPr lang="en-US" altLang="ko-KR" b="1" dirty="0"/>
          </a:p>
          <a:p>
            <a:pPr lvl="2">
              <a:defRPr/>
            </a:pP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LLaMA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3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는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Meta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가 발표한 최신 오픈소스 대규모 언어 모델로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8B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와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70B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파라미터 버전이 공개</a:t>
            </a:r>
            <a:r>
              <a:rPr lang="ko-KR" altLang="en-US" dirty="0">
                <a:solidFill>
                  <a:srgbClr val="0D0D0D"/>
                </a:solidFill>
                <a:latin typeface="ui-sans-serif"/>
              </a:rPr>
              <a:t>됨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lvl="2">
              <a:defRPr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오픈 모델임에도 불구하고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GPT-4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수준의 고성능을 지향하며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상용 모델 못지않은 성능을 실현하고 있음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lvl="2">
              <a:defRPr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누구나 연구 및 상업적 활용이 가능하도록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Hugging Face, AWS, Azure, NVIDIA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와의 협업을 통해 쉽게 접근 가능하게 배포됨</a:t>
            </a:r>
            <a:r>
              <a:rPr lang="en-US" altLang="ko-KR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pPr lvl="2">
              <a:defRPr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특히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AI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연구자와 기업이 커스터마이징과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파인튜닝을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 통해 특화된 활용이 가능하도록 설계되었음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향후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400B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파라미터 이상의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멀티모달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 버전도 계획 중이며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생태계 확장을 적극 추진 중임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  <a:endParaRPr lang="en-US" altLang="ko-KR" b="1" dirty="0"/>
          </a:p>
          <a:p>
            <a:pPr lvl="2">
              <a:defRPr/>
            </a:pPr>
            <a:endParaRPr lang="en-US" altLang="ko-KR" b="1" dirty="0"/>
          </a:p>
          <a:p>
            <a:pPr lvl="2">
              <a:defRPr/>
            </a:pPr>
            <a:endParaRPr lang="en-US" altLang="ko-KR" b="1" dirty="0"/>
          </a:p>
          <a:p>
            <a:pPr lvl="2">
              <a:defRPr/>
            </a:pPr>
            <a:endParaRPr lang="ko-KR" altLang="en-US" b="1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모델 개요</a:t>
            </a:r>
          </a:p>
        </p:txBody>
      </p:sp>
      <p:pic>
        <p:nvPicPr>
          <p:cNvPr id="5" name="그림 4" descr="클립아트, 스케치, 그림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473F8A8-97C7-1DAA-A30A-59D7A1025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092" y="4437112"/>
            <a:ext cx="2181225" cy="209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4C1F11-F010-9A7D-1B1A-EE6C38B1C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3246730"/>
            <a:ext cx="6075699" cy="3227715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FB160BAC-220B-CA3B-88EB-402790D1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아키텍처 특징 및 구성</a:t>
            </a:r>
          </a:p>
        </p:txBody>
      </p:sp>
      <p:pic>
        <p:nvPicPr>
          <p:cNvPr id="7" name="그림 6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06C61B-A664-91B8-53B9-EBBDFCBF85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3429000"/>
            <a:ext cx="4119192" cy="2852936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9C65A50C-DC5F-5852-9D60-3ED6B048C0D9}"/>
              </a:ext>
            </a:extLst>
          </p:cNvPr>
          <p:cNvSpPr txBox="1">
            <a:spLocks/>
          </p:cNvSpPr>
          <p:nvPr/>
        </p:nvSpPr>
        <p:spPr>
          <a:xfrm>
            <a:off x="0" y="1508107"/>
            <a:ext cx="11752906" cy="1507951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4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defRPr/>
            </a:pP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LLaMA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3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는 다양한 벤치마크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(MMLU, GSM8K, </a:t>
            </a: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HumanEval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등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)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에서 기존 오픈모델 대비 전반적인 성능 향상을 보여주었음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</a:p>
          <a:p>
            <a:pPr lvl="2">
              <a:defRPr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GPT-4, Claude 3.5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등 최상위 모델과 유사한 성능을 발휘하며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일부 항목에서는 이를 능가하는 결과도 나타남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긴 문맥을 처리하는 능력과 복잡한 질문에 대한 일관된 응답이 가능한 것이 특징임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  <a:endParaRPr lang="en-US" altLang="ko-KR" b="1" dirty="0"/>
          </a:p>
          <a:p>
            <a:pPr lvl="2">
              <a:defRPr/>
            </a:pPr>
            <a:endParaRPr lang="en-US" altLang="ko-KR" b="1" dirty="0"/>
          </a:p>
          <a:p>
            <a:pPr lvl="2">
              <a:defRPr/>
            </a:pPr>
            <a:endParaRPr lang="en-US" altLang="ko-KR" b="1" dirty="0"/>
          </a:p>
          <a:p>
            <a:pPr lvl="2">
              <a:defRPr/>
            </a:pPr>
            <a:endParaRPr lang="ko-KR" altLang="en-US" b="1" dirty="0"/>
          </a:p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39982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CED4AC-082F-3EF4-E7A3-009668B6C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768" y="4725144"/>
            <a:ext cx="6605852" cy="1806288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8078E8C-9BD5-03CD-89F3-A95AA488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아키텍처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90A90BE-446E-B426-3F43-9DB8F83BD5A1}"/>
              </a:ext>
            </a:extLst>
          </p:cNvPr>
          <p:cNvSpPr txBox="1">
            <a:spLocks/>
          </p:cNvSpPr>
          <p:nvPr/>
        </p:nvSpPr>
        <p:spPr>
          <a:xfrm>
            <a:off x="-600744" y="1044878"/>
            <a:ext cx="6771276" cy="4472354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3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defRPr/>
            </a:pP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LLaMA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 3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는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decoder-only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구조를 기반으로 설계된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Transformer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계열 모델임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</a:p>
          <a:p>
            <a:pPr lvl="2">
              <a:defRPr/>
            </a:pP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lvl="2">
              <a:defRPr/>
            </a:pP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Grouped Query Attention(GQA)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을 활용하여 대규모 모델에서도 계산 효율성과 메모리 최적화를 동시에 달성함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 </a:t>
            </a:r>
          </a:p>
          <a:p>
            <a:pPr lvl="2">
              <a:defRPr/>
            </a:pP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lvl="2">
              <a:defRPr/>
            </a:pPr>
            <a:r>
              <a:rPr lang="en-US" altLang="ko-KR" b="0" i="0" dirty="0" err="1">
                <a:solidFill>
                  <a:srgbClr val="0D0D0D"/>
                </a:solidFill>
                <a:effectLst/>
                <a:latin typeface="ui-sans-serif"/>
              </a:rPr>
              <a:t>RoPE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회전 위치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임베딩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)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방식으로 긴 문맥 내 위치 정보를 정확하게 학습하며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최대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128K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토큰 길이까지 지원함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lvl="2">
              <a:defRPr/>
            </a:pPr>
            <a:endParaRPr lang="en-US" altLang="ko-KR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모델의 전체 구조는 추론 최적화에 중점을 두었으며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latin typeface="ui-sans-serif"/>
              </a:rPr>
              <a:t>파인튜닝과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Inference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에서도 높은 효율성을 유지하도록 설계되었음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  <a:endParaRPr lang="en-US" altLang="ko-KR" b="1" dirty="0"/>
          </a:p>
          <a:p>
            <a:pPr lvl="2">
              <a:defRPr/>
            </a:pPr>
            <a:endParaRPr lang="en-US" altLang="ko-KR" b="1" dirty="0"/>
          </a:p>
          <a:p>
            <a:pPr lvl="2">
              <a:defRPr/>
            </a:pPr>
            <a:endParaRPr lang="ko-KR" altLang="en-US" b="1" dirty="0"/>
          </a:p>
          <a:p>
            <a:pPr>
              <a:defRPr/>
            </a:pPr>
            <a:endParaRPr lang="ko-KR" altLang="en-US" dirty="0"/>
          </a:p>
        </p:txBody>
      </p:sp>
      <p:pic>
        <p:nvPicPr>
          <p:cNvPr id="8" name="그림 7" descr="텍스트, 스크린샷, 도표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015621F-3616-2389-4FA2-56C6E5907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32" y="828854"/>
            <a:ext cx="5830124" cy="368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4165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진행현황</a:t>
            </a:r>
          </a:p>
          <a:p>
            <a:pPr lvl="2">
              <a:defRPr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학습 모델 구현</a:t>
            </a:r>
          </a:p>
          <a:p>
            <a:pPr marL="650250" lvl="2" indent="0">
              <a:buNone/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향후계획</a:t>
            </a:r>
          </a:p>
          <a:p>
            <a:pPr lvl="1">
              <a:defRPr/>
            </a:pPr>
            <a:r>
              <a:rPr lang="ko-KR" altLang="en-US" dirty="0"/>
              <a:t>최적 모델 도출</a:t>
            </a:r>
          </a:p>
          <a:p>
            <a:pPr lvl="2">
              <a:defRPr/>
            </a:pPr>
            <a:r>
              <a:rPr lang="ko-KR" altLang="en-US" dirty="0"/>
              <a:t>테스트 데이터를 통해 모델 학습 진행 후 성능 확인</a:t>
            </a:r>
          </a:p>
          <a:p>
            <a:pPr lvl="1">
              <a:defRPr/>
            </a:pPr>
            <a:r>
              <a:rPr lang="ko-KR" altLang="en-US" dirty="0"/>
              <a:t>모델의 성능 분석</a:t>
            </a:r>
          </a:p>
          <a:p>
            <a:pPr lvl="2">
              <a:defRPr/>
            </a:pPr>
            <a:r>
              <a:rPr lang="ko-KR" altLang="en-US" dirty="0"/>
              <a:t>데이터셋의 무결성과 분량을 확인하여 모델의 성능을 분석한 후 조정할 예정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진행현황 및 향후 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 </a:t>
            </a:r>
            <a:r>
              <a:rPr lang="ko-KR" altLang="en-US"/>
              <a:t>모델의 훈련 및 검증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개요</a:t>
            </a:r>
          </a:p>
          <a:p>
            <a:pPr lvl="0">
              <a:defRPr/>
            </a:pPr>
            <a:r>
              <a:rPr lang="ko-KR" altLang="en-US"/>
              <a:t>훈련 방법 및 훈련 시간</a:t>
            </a:r>
          </a:p>
          <a:p>
            <a:pPr lvl="0">
              <a:defRPr/>
            </a:pPr>
            <a:r>
              <a:rPr lang="ko-KR" altLang="en-US"/>
              <a:t>학습 결과 및 저장</a:t>
            </a:r>
          </a:p>
          <a:p>
            <a:pPr lvl="0">
              <a:defRPr/>
            </a:pPr>
            <a:r>
              <a:rPr lang="ko-KR" altLang="en-US"/>
              <a:t>진행현황 및 향후계획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86AE34-25DB-49B2-8F28-D47F29351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072DB8-C589-4EEC-96B8-50897E98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Llama3.1 </a:t>
            </a:r>
            <a:r>
              <a:rPr lang="ko-KR" altLang="en-US" dirty="0">
                <a:ea typeface="맑은 고딕"/>
              </a:rPr>
              <a:t>학습 데이터셋 및 학습방법</a:t>
            </a:r>
          </a:p>
        </p:txBody>
      </p:sp>
      <p:graphicFrame>
        <p:nvGraphicFramePr>
          <p:cNvPr id="29" name="내용 개체 틀 3">
            <a:extLst>
              <a:ext uri="{FF2B5EF4-FFF2-40B4-BE49-F238E27FC236}">
                <a16:creationId xmlns:a16="http://schemas.microsoft.com/office/drawing/2014/main" id="{1C122E02-86FC-43FD-BEC3-803D4C0AD1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9574480"/>
              </p:ext>
            </p:extLst>
          </p:nvPr>
        </p:nvGraphicFramePr>
        <p:xfrm>
          <a:off x="1163451" y="1895801"/>
          <a:ext cx="9865097" cy="387530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1601691482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698812497"/>
                    </a:ext>
                  </a:extLst>
                </a:gridCol>
                <a:gridCol w="1944217">
                  <a:extLst>
                    <a:ext uri="{9D8B030D-6E8A-4147-A177-3AD203B41FA5}">
                      <a16:colId xmlns:a16="http://schemas.microsoft.com/office/drawing/2014/main" val="1286272801"/>
                    </a:ext>
                  </a:extLst>
                </a:gridCol>
              </a:tblGrid>
              <a:tr h="2362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제목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44904"/>
                  </a:ext>
                </a:extLst>
              </a:tr>
              <a:tr h="4856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학습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구현내용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i="0" u="none" strike="noStrike" noProof="0" dirty="0">
                          <a:effectLst/>
                          <a:latin typeface="맑은 고딕"/>
                          <a:ea typeface="맑은 고딕"/>
                        </a:rPr>
                        <a:t>LLama3.1 Model</a:t>
                      </a:r>
                      <a:r>
                        <a:rPr lang="ko-KR" altLang="en-US" sz="1800" b="0" i="0" u="none" strike="noStrike" noProof="0" dirty="0">
                          <a:effectLst/>
                          <a:latin typeface="맑은 고딕"/>
                          <a:ea typeface="맑은 고딕"/>
                        </a:rPr>
                        <a:t>을 </a:t>
                      </a:r>
                      <a:r>
                        <a:rPr lang="en-US" altLang="ko-KR" sz="1800" b="0" i="0" u="none" strike="noStrike" noProof="0" dirty="0">
                          <a:effectLst/>
                          <a:latin typeface="맑은 고딕"/>
                          <a:ea typeface="맑은 고딕"/>
                        </a:rPr>
                        <a:t>Fine-Tuning</a:t>
                      </a:r>
                      <a:endParaRPr lang="ko-KR" sz="1800" b="0" i="0" u="none" strike="noStrike" noProof="0" dirty="0" err="1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808800"/>
                  </a:ext>
                </a:extLst>
              </a:tr>
              <a:tr h="4856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훈련데이터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53,480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개의 민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형사 법률 질문</a:t>
                      </a: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답변 데이터셋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838784"/>
                  </a:ext>
                </a:extLst>
              </a:tr>
              <a:tr h="4443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배치크기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32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설정사항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527542"/>
                  </a:ext>
                </a:extLst>
              </a:tr>
              <a:tr h="4192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훈련에포크</a:t>
                      </a:r>
                      <a:endParaRPr lang="ko-KR" altLang="en-US" sz="18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설정사항</a:t>
                      </a:r>
                      <a:endParaRPr lang="en-US" altLang="ko-KR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346768"/>
                  </a:ext>
                </a:extLst>
              </a:tr>
              <a:tr h="9355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로깅</a:t>
                      </a: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indent="-2857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0" i="0" u="none" strike="noStrike" noProof="0" dirty="0">
                          <a:effectLst/>
                        </a:rPr>
                        <a:t>50 step </a:t>
                      </a:r>
                      <a:r>
                        <a:rPr lang="ko-KR" altLang="en-US" sz="1800" b="0" i="0" u="none" strike="noStrike" noProof="0" dirty="0">
                          <a:effectLst/>
                        </a:rPr>
                        <a:t>마다 로그 저장</a:t>
                      </a:r>
                      <a:endParaRPr lang="en-US" altLang="ko-KR" sz="1800" b="0" i="0" u="none" strike="noStrike" noProof="0" dirty="0">
                        <a:effectLst/>
                      </a:endParaRPr>
                    </a:p>
                    <a:p>
                      <a:pPr marL="387350" marR="0" indent="-2857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0" i="0" u="none" strike="noStrike" noProof="0" dirty="0" err="1">
                          <a:effectLst/>
                        </a:rPr>
                        <a:t>train_loss</a:t>
                      </a:r>
                      <a:r>
                        <a:rPr lang="ko-KR" altLang="en-US" sz="1800" b="0" i="0" u="none" strike="noStrike" noProof="0" dirty="0">
                          <a:effectLst/>
                        </a:rPr>
                        <a:t>도 함께 출력</a:t>
                      </a:r>
                      <a:endParaRPr lang="en-US" altLang="ko-KR" sz="1800" b="0" i="0" u="none" strike="noStrike" noProof="0" dirty="0">
                        <a:effectLst/>
                      </a:endParaRPr>
                    </a:p>
                    <a:p>
                      <a:pPr marL="387350" marR="0" indent="-2857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i="0" u="none" strike="noStrike" noProof="0" dirty="0">
                          <a:effectLst/>
                        </a:rPr>
                        <a:t>학습이 완료된 후 전체 학습시간 및</a:t>
                      </a:r>
                      <a:r>
                        <a:rPr lang="en-US" altLang="ko-KR" sz="1800" b="0" i="0" u="none" strike="noStrike" noProof="0" dirty="0">
                          <a:effectLst/>
                        </a:rPr>
                        <a:t> </a:t>
                      </a:r>
                      <a:r>
                        <a:rPr lang="ko-KR" altLang="en-US" sz="1800" b="0" i="0" u="none" strike="noStrike" noProof="0" dirty="0">
                          <a:effectLst/>
                        </a:rPr>
                        <a:t>전체 평균 </a:t>
                      </a:r>
                      <a:r>
                        <a:rPr lang="en-US" altLang="ko-KR" sz="1800" b="0" i="0" u="none" strike="noStrike" noProof="0" dirty="0">
                          <a:effectLst/>
                        </a:rPr>
                        <a:t>loss</a:t>
                      </a:r>
                      <a:r>
                        <a:rPr lang="ko-KR" altLang="en-US" sz="1800" b="0" i="0" u="none" strike="noStrike" noProof="0" dirty="0">
                          <a:effectLst/>
                        </a:rPr>
                        <a:t>를 출력하여</a:t>
                      </a:r>
                      <a:r>
                        <a:rPr lang="en-US" altLang="ko-KR" sz="1800" b="0" i="0" u="none" strike="noStrike" noProof="0" dirty="0">
                          <a:effectLst/>
                        </a:rPr>
                        <a:t> </a:t>
                      </a:r>
                      <a:r>
                        <a:rPr lang="ko-KR" altLang="en-US" sz="1800" b="0" i="0" u="none" strike="noStrike" noProof="0" dirty="0">
                          <a:effectLst/>
                        </a:rPr>
                        <a:t>학습진행도를 평가</a:t>
                      </a:r>
                      <a:endParaRPr lang="en-US" altLang="ko-KR" sz="1800" b="0" i="0" u="none" strike="noStrike" noProof="0" dirty="0">
                        <a:effectLst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ko-KR" altLang="en-US" sz="18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marL="49241" marR="49241" marT="24620" marB="2462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61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89097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0DAA92-9F1E-421F-7EB1-C6142E96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실험 과정</a:t>
            </a:r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CD2258-9CA1-F879-A8B0-70A444C87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2060848"/>
            <a:ext cx="5158993" cy="2376264"/>
          </a:xfrm>
          <a:prstGeom prst="rect">
            <a:avLst/>
          </a:prstGeom>
        </p:spPr>
      </p:pic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3C808EA4-B913-28A6-B048-7B658F24CCD4}"/>
              </a:ext>
            </a:extLst>
          </p:cNvPr>
          <p:cNvSpPr txBox="1">
            <a:spLocks/>
          </p:cNvSpPr>
          <p:nvPr/>
        </p:nvSpPr>
        <p:spPr>
          <a:xfrm>
            <a:off x="209692" y="1340768"/>
            <a:ext cx="5924755" cy="4946485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3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 err="1"/>
              <a:t>LoRA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LLama3.1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과 같은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LLM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을 효율적으로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fine-tuning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하기 위한 경량화 방법으로 메모리 사용을 최소화 하며 학습속도를 향상시킨다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[r] Rank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를 설정하여 가중치 행렬을 분해하고 메모리 사용량을 설정 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lora_alpha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]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파라미터를 설정하여 초기 학습 속도를 높이고 성능을 개선하는 역할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최종적으로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[r]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과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lora_alpha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]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의 값을 조정하며 모델의 학습 시간과 성능향상을 조절한다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lvl="1">
              <a:defRPr/>
            </a:pPr>
            <a:endParaRPr lang="ko-KR" altLang="en-US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84507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7037CFB-24D6-ECC4-F36F-6F0B7012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실험 과정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FD8FD6-FF0B-46E3-EC2B-31DCEE57D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2348880"/>
            <a:ext cx="5458985" cy="3600400"/>
          </a:xfrm>
          <a:prstGeom prst="rect">
            <a:avLst/>
          </a:prstGeom>
        </p:spPr>
      </p:pic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F18BD003-7993-2505-49F7-501708B6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024" y="1752597"/>
            <a:ext cx="5617164" cy="4179644"/>
          </a:xfrm>
        </p:spPr>
        <p:txBody>
          <a:bodyPr/>
          <a:lstStyle/>
          <a:p>
            <a:pPr lvl="0">
              <a:defRPr/>
            </a:pP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Learning_rate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와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Epoch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사전에 조사했던 유사 주제 작품들을 바탕으로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Learning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를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조정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5e-5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부터 점차 낮춰가며 학습을 진행하였고 그 결과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1.5e-5 ~ 2e-5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에서 적절한 학습 결과를 보여주었음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ko-KR" altLang="en-US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학습 시간과 결과를 고려하여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1, 2, 3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횟수로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epoch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실행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epoch 3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회와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1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회에서 불안정안 학습과 출력결과를 나타내었고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회에서 가장 안정적으로 학습하였음</a:t>
            </a:r>
          </a:p>
          <a:p>
            <a:pPr lvl="1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381989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훈련 방법 및 훈련 시간</a:t>
            </a: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Meta-Llama-3.1-8B-Instruct-bnb-4bit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모델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Import</a:t>
            </a: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Google 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Colab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에서 실행</a:t>
            </a: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A100 GPU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로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2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에포크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훈련에 약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4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시간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30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분 소요</a:t>
            </a:r>
          </a:p>
          <a:p>
            <a:pPr marL="432000" lvl="1" indent="0">
              <a:buNone/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</a:t>
            </a:r>
          </a:p>
          <a:p>
            <a:pPr lvl="0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학습과정 모니터링</a:t>
            </a:r>
          </a:p>
          <a:p>
            <a:pPr lvl="1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50steps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마다 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train_loss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를 함께 출력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학습이 끝난 후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전체적인 학습 지표를 통해 진행도를 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marL="432000" lvl="1" indent="0">
              <a:buNone/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  확인할 수 있음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추후 학습에서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학습과정를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좀 더 자세히 평가할 수 있는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marL="432000" lvl="1" indent="0">
              <a:buNone/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 그래프나 지표를 추가하여 문제점을 보완할 예정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ko-KR" altLang="en-US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훈련 방법 및 훈련 시간</a:t>
            </a:r>
          </a:p>
        </p:txBody>
      </p:sp>
      <p:pic>
        <p:nvPicPr>
          <p:cNvPr id="6" name="그림 5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3558C5C-1DE3-0271-9E55-7E97139D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2420888"/>
            <a:ext cx="3501982" cy="41331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6BC03AD-B0FC-3EC1-5CB0-52D3AB7B6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1" y="5805264"/>
            <a:ext cx="7273887" cy="576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75463-FE41-60C6-C40C-A82B78D9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10D403-CAE0-72E2-1C66-18F6DEBE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예시 질문 출력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B40F37A-2521-6161-56D7-FED4A02E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학습결과</a:t>
            </a:r>
          </a:p>
        </p:txBody>
      </p:sp>
      <p:pic>
        <p:nvPicPr>
          <p:cNvPr id="5" name="그림 4" descr="텍스트, 스크린샷, 폰트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BFCBB7-201D-72FE-663F-82C818E63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88" y="4275667"/>
            <a:ext cx="11119999" cy="2552922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A930E0-B191-A82D-854E-0DF8797F3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426414"/>
            <a:ext cx="6264696" cy="2552921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617961C8-B2F1-DB34-0635-99FDFCC3A765}"/>
              </a:ext>
            </a:extLst>
          </p:cNvPr>
          <p:cNvSpPr txBox="1">
            <a:spLocks/>
          </p:cNvSpPr>
          <p:nvPr/>
        </p:nvSpPr>
        <p:spPr>
          <a:xfrm>
            <a:off x="7032104" y="1787103"/>
            <a:ext cx="4963853" cy="2183125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4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/>
              <a:t>테스트 질문 출력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Max_token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값을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256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으로 설정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Repetition_penalty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값을 주어 반복적인 답을 출력하는 현상을 억제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예시 질문을 적용하여 출력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9295809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689C-7D28-EF07-C947-95935536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6B0C615-92AF-CD99-C036-A80F898FB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8" y="1111885"/>
            <a:ext cx="11753850" cy="1567180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2D1D53BF-615C-4E22-6E27-AAB0AF17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학습결과</a:t>
            </a:r>
          </a:p>
        </p:txBody>
      </p:sp>
      <p:pic>
        <p:nvPicPr>
          <p:cNvPr id="7" name="그림 6" descr="텍스트, 스크린샷, 폰트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E33038F-0CB4-27A7-05B4-2E736CF60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68" y="4852934"/>
            <a:ext cx="11753850" cy="1819606"/>
          </a:xfrm>
          <a:prstGeom prst="rect">
            <a:avLst/>
          </a:prstGeom>
        </p:spPr>
      </p:pic>
      <p:pic>
        <p:nvPicPr>
          <p:cNvPr id="9" name="그림 8" descr="텍스트, 스크린샷, 폰트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5657C6-E943-1EE7-69DE-CEB776717F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8" y="2780928"/>
            <a:ext cx="11763134" cy="19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9662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4F29-5E90-D2D4-0F18-A2979A7B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 descr="텍스트, 스크린샷, 폰트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AB7407-D934-EAF7-25B6-B775B5C90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3933057"/>
            <a:ext cx="11803109" cy="2720196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63446415-D04A-F150-DD15-557471C3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문제점</a:t>
            </a: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B16CE9CF-7CE6-D753-923D-6FDCB772F85A}"/>
              </a:ext>
            </a:extLst>
          </p:cNvPr>
          <p:cNvSpPr txBox="1">
            <a:spLocks/>
          </p:cNvSpPr>
          <p:nvPr/>
        </p:nvSpPr>
        <p:spPr>
          <a:xfrm>
            <a:off x="0" y="1398091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3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학습과정에서 발생한 문제점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일부 질문에 대한 답변에서 법률과 관련되지 않은 개념들을 설명하며 의미가 왜곡됨</a:t>
            </a:r>
          </a:p>
          <a:p>
            <a:pPr lvl="1">
              <a:defRPr/>
            </a:pPr>
            <a:r>
              <a:rPr lang="ko-KR" altLang="en-US" i="0" dirty="0" err="1">
                <a:solidFill>
                  <a:srgbClr val="0D0D0D"/>
                </a:solidFill>
                <a:effectLst/>
                <a:latin typeface="ui-sans-serif"/>
              </a:rPr>
              <a:t>학습률이</a:t>
            </a:r>
            <a:r>
              <a:rPr lang="ko-KR" altLang="en-US" i="0" dirty="0">
                <a:solidFill>
                  <a:srgbClr val="0D0D0D"/>
                </a:solidFill>
                <a:effectLst/>
                <a:latin typeface="ui-sans-serif"/>
              </a:rPr>
              <a:t> 과도하거나</a:t>
            </a:r>
            <a:r>
              <a:rPr lang="en-US" altLang="ko-KR" i="0" dirty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i="0" dirty="0" err="1">
                <a:solidFill>
                  <a:srgbClr val="0D0D0D"/>
                </a:solidFill>
                <a:effectLst/>
                <a:latin typeface="ui-sans-serif"/>
              </a:rPr>
              <a:t>에폭</a:t>
            </a:r>
            <a:r>
              <a:rPr lang="ko-KR" altLang="en-US" i="0" dirty="0">
                <a:solidFill>
                  <a:srgbClr val="0D0D0D"/>
                </a:solidFill>
                <a:effectLst/>
                <a:latin typeface="ui-sans-serif"/>
              </a:rPr>
              <a:t> 수가 부족해 일반화가 완전히 진행되지 않아 보이는 문제로 보임</a:t>
            </a:r>
            <a:endParaRPr lang="en-US" altLang="ko-KR" i="0" dirty="0">
              <a:solidFill>
                <a:srgbClr val="0D0D0D"/>
              </a:solidFill>
              <a:effectLst/>
              <a:latin typeface="ui-sans-serif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모델의 학습을 통해 최적의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hyperparameter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를 설정할 예정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lvl="1">
              <a:defRPr/>
            </a:pPr>
            <a:endParaRPr lang="ko-KR" altLang="en-US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208068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1965729"/>
          </a:xfrm>
        </p:spPr>
        <p:txBody>
          <a:bodyPr/>
          <a:lstStyle/>
          <a:p>
            <a:pPr lvl="0">
              <a:defRPr/>
            </a:pPr>
            <a:r>
              <a:rPr lang="ko-KR" altLang="en-US" dirty="0"/>
              <a:t>진행 현황</a:t>
            </a:r>
          </a:p>
          <a:p>
            <a:pPr lvl="1">
              <a:defRPr/>
            </a:pPr>
            <a:r>
              <a:rPr lang="ko-KR" altLang="en-US" dirty="0"/>
              <a:t>모델 훈련 및 </a:t>
            </a:r>
            <a:r>
              <a:rPr lang="ko-KR" altLang="en-US" dirty="0" err="1"/>
              <a:t>학습률</a:t>
            </a:r>
            <a:r>
              <a:rPr lang="ko-KR" altLang="en-US" dirty="0"/>
              <a:t> 재조정</a:t>
            </a:r>
          </a:p>
          <a:p>
            <a:pPr lvl="0">
              <a:defRPr/>
            </a:pPr>
            <a:r>
              <a:rPr lang="ko-KR" altLang="en-US" dirty="0"/>
              <a:t>향후 계획</a:t>
            </a:r>
          </a:p>
          <a:p>
            <a:pPr lvl="1">
              <a:defRPr/>
            </a:pPr>
            <a:r>
              <a:rPr lang="ko-KR" altLang="en-US" dirty="0"/>
              <a:t>일부 질문에서 문장이 완전하게 이루어 지지 않는 문제 해결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/>
              <a:t>Max_token</a:t>
            </a:r>
            <a:r>
              <a:rPr lang="ko-KR" altLang="en-US" dirty="0"/>
              <a:t>값을 </a:t>
            </a:r>
            <a:r>
              <a:rPr lang="en-US" altLang="ko-KR" dirty="0"/>
              <a:t>512, 1024</a:t>
            </a:r>
            <a:r>
              <a:rPr lang="ko-KR" altLang="en-US" dirty="0"/>
              <a:t>로 점차 증가시켜가며 문장의 완성도를 높여갈 예정</a:t>
            </a:r>
          </a:p>
          <a:p>
            <a:pPr lvl="1">
              <a:defRPr/>
            </a:pPr>
            <a:r>
              <a:rPr lang="ko-KR" altLang="en-US" dirty="0"/>
              <a:t>학습된 모델에서 의미 없는 단어와 질문에 맞지 않은 답변을 하지 못하는 문제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일부 질문에서 법률 관련 질문이 아닌 전혀 다른 의미의 단어나 개념을 설명하거나 한국어가 아닌 언어를 사용하는 문제가 있었음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/>
              <a:t>Learning_rate</a:t>
            </a:r>
            <a:r>
              <a:rPr lang="ko-KR" altLang="en-US" dirty="0"/>
              <a:t>와 여러 </a:t>
            </a:r>
            <a:r>
              <a:rPr lang="en-US" altLang="ko-KR" dirty="0"/>
              <a:t>Hyperparameter</a:t>
            </a:r>
            <a:r>
              <a:rPr lang="ko-KR" altLang="en-US" dirty="0"/>
              <a:t> 요소들을 점검하며 모든 질문에 </a:t>
            </a:r>
            <a:r>
              <a:rPr lang="ko-KR" altLang="en-US" i="0" dirty="0">
                <a:solidFill>
                  <a:srgbClr val="0D0D0D"/>
                </a:solidFill>
                <a:effectLst/>
                <a:latin typeface="ui-sans-serif"/>
              </a:rPr>
              <a:t>의미 있고 일관된 응답을 할 수 있도록 </a:t>
            </a:r>
            <a:r>
              <a:rPr lang="ko-KR" altLang="en-US" i="0" dirty="0" err="1">
                <a:solidFill>
                  <a:srgbClr val="0D0D0D"/>
                </a:solidFill>
                <a:effectLst/>
                <a:latin typeface="ui-sans-serif"/>
              </a:rPr>
              <a:t>구현하는것이</a:t>
            </a:r>
            <a:r>
              <a:rPr lang="ko-KR" altLang="en-US" i="0" dirty="0">
                <a:solidFill>
                  <a:srgbClr val="0D0D0D"/>
                </a:solidFill>
                <a:effectLst/>
                <a:latin typeface="ui-sans-serif"/>
              </a:rPr>
              <a:t> 목표</a:t>
            </a:r>
            <a:r>
              <a:rPr lang="en-US" altLang="ko-KR" dirty="0"/>
              <a:t>.</a:t>
            </a:r>
            <a:endParaRPr lang="ko-KR" altLang="en-US" dirty="0"/>
          </a:p>
          <a:p>
            <a:pPr lvl="1">
              <a:defRPr/>
            </a:pPr>
            <a:r>
              <a:rPr lang="ko-KR" altLang="en-US" dirty="0"/>
              <a:t>필요에 따라 추가 데이터셋을 확보하여 학습을 진행할 예정</a:t>
            </a:r>
            <a:r>
              <a:rPr lang="en-US" altLang="ko-KR" dirty="0"/>
              <a:t>.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안정적인 학습과 응답을 보인 모델을 </a:t>
            </a:r>
            <a:r>
              <a:rPr lang="ko-KR" altLang="en-US" dirty="0" err="1"/>
              <a:t>허깅페이스에</a:t>
            </a:r>
            <a:r>
              <a:rPr lang="ko-KR" altLang="en-US" dirty="0"/>
              <a:t> 업로드 후 웹사이트 구현 시작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진행현황 및 향후계획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92563" y="780865"/>
            <a:ext cx="7613650" cy="1866901"/>
          </a:xfrm>
        </p:spPr>
        <p:txBody>
          <a:bodyPr anchor="ctr" anchorCtr="0"/>
          <a:lstStyle/>
          <a:p>
            <a:pPr lvl="0" algn="r">
              <a:defRPr/>
            </a:pPr>
            <a:r>
              <a:rPr lang="en-US" altLang="ko-KR" dirty="0">
                <a:latin typeface="+mj-ea"/>
              </a:rPr>
              <a:t>5. </a:t>
            </a:r>
            <a:r>
              <a:rPr lang="ko-KR" altLang="en-US" dirty="0"/>
              <a:t>학습 문제점 및 해결 방법 </a:t>
            </a:r>
            <a:endParaRPr lang="ko-KR" altLang="en-US" dirty="0">
              <a:latin typeface="+mj-ea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1B6CD9D-7C3C-8ADC-73EB-C4C9FB58C776}"/>
              </a:ext>
            </a:extLst>
          </p:cNvPr>
          <p:cNvSpPr txBox="1">
            <a:spLocks/>
          </p:cNvSpPr>
          <p:nvPr/>
        </p:nvSpPr>
        <p:spPr>
          <a:xfrm>
            <a:off x="551384" y="4793429"/>
            <a:ext cx="7613650" cy="206325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457200" indent="-4572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/>
              <a:buChar char="§"/>
              <a:defRPr sz="2800" b="1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/>
              <a:t>학습 과정에서 발생한 문제점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문제 해결 방법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해결 결과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4F29-5E90-D2D4-0F18-A2979A7B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3446415-D04A-F150-DD15-557471C3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문제점 및 해결 방법</a:t>
            </a: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B16CE9CF-7CE6-D753-923D-6FDCB772F85A}"/>
              </a:ext>
            </a:extLst>
          </p:cNvPr>
          <p:cNvSpPr txBox="1">
            <a:spLocks/>
          </p:cNvSpPr>
          <p:nvPr/>
        </p:nvSpPr>
        <p:spPr>
          <a:xfrm>
            <a:off x="3365" y="1124744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학습과정에서 발생한 문제점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내용의 반복 및 중복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답변 중에 동일하거나 매우 유사한 문장이 여러 번 반복되고 있음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불필요한 문장 및 과도한 상세 설명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각 단계별 설명이 지나치게 길고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핵심 내용보다 부가 설명이 많아 가독성이 떨어짐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문장 구조 및 자연스러운 흐름 부족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문장들이 다소 기계적이고 딱딱하게 나열되어 있어 자연스러운 대화체나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상담체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느낌이 부족함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.</a:t>
            </a:r>
            <a:endParaRPr lang="ko-KR" altLang="en-US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DC177F3-3967-42DF-8349-F51726DF7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3421552"/>
            <a:ext cx="9500441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9788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20953-CC47-101C-09B0-5DBF270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문제점 및 해결 방법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87F53EFB-732C-75DE-3182-9878AA38090A}"/>
              </a:ext>
            </a:extLst>
          </p:cNvPr>
          <p:cNvSpPr txBox="1">
            <a:spLocks/>
          </p:cNvSpPr>
          <p:nvPr/>
        </p:nvSpPr>
        <p:spPr>
          <a:xfrm>
            <a:off x="119336" y="980728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8DB635-6B36-4A88-9FF1-30B49733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1795983"/>
          </a:xfrm>
        </p:spPr>
        <p:txBody>
          <a:bodyPr/>
          <a:lstStyle/>
          <a:p>
            <a:r>
              <a:rPr lang="ko-KR" altLang="en-US" dirty="0"/>
              <a:t>문제 해결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불완전 문장 처리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모델 응답의 끝이 마침표로 끝나지 않는 경우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마지막으로 완전하게 끝맺은 </a:t>
            </a:r>
            <a:r>
              <a:rPr lang="ko-KR" altLang="en-US" b="0" i="0" dirty="0" err="1">
                <a:solidFill>
                  <a:srgbClr val="090909"/>
                </a:solidFill>
                <a:effectLst/>
                <a:latin typeface="Pretendard"/>
              </a:rPr>
              <a:t>문장까지만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 남기고 그 이후의 불완전한 내용은 잘라내는 기능을 구현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(</a:t>
            </a:r>
            <a:r>
              <a:rPr lang="en-US" altLang="ko-KR" b="0" i="0" dirty="0" err="1">
                <a:solidFill>
                  <a:srgbClr val="090909"/>
                </a:solidFill>
                <a:effectLst/>
                <a:latin typeface="Pretendard"/>
              </a:rPr>
              <a:t>truncate_inco</a:t>
            </a:r>
            <a:r>
              <a:rPr lang="en-US" altLang="ko-KR" dirty="0" err="1">
                <a:solidFill>
                  <a:srgbClr val="090909"/>
                </a:solidFill>
                <a:latin typeface="Pretendard"/>
              </a:rPr>
              <a:t>mplete_sentence</a:t>
            </a:r>
            <a:r>
              <a:rPr lang="ko-KR" altLang="en-US" dirty="0">
                <a:solidFill>
                  <a:srgbClr val="090909"/>
                </a:solidFill>
                <a:latin typeface="Pretendard"/>
              </a:rPr>
              <a:t> 함수 활용</a:t>
            </a:r>
            <a:r>
              <a:rPr lang="en-US" altLang="ko-KR" dirty="0">
                <a:solidFill>
                  <a:srgbClr val="090909"/>
                </a:solidFill>
                <a:latin typeface="Pretendard"/>
              </a:rPr>
              <a:t>)</a:t>
            </a:r>
            <a:endParaRPr lang="en-US" altLang="ko-KR" b="0" i="0" dirty="0">
              <a:solidFill>
                <a:srgbClr val="000000"/>
              </a:solidFill>
              <a:effectLst/>
              <a:latin typeface="맑은 고딕"/>
            </a:endParaRPr>
          </a:p>
          <a:p>
            <a:pPr marL="432000" lvl="1" indent="0">
              <a:buNone/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B4A6A7-B879-4C55-A5A5-B15E36BBA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708" y="2951393"/>
            <a:ext cx="7128792" cy="319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0023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20953-CC47-101C-09B0-5DBF270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문제점 및 해결 방법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87F53EFB-732C-75DE-3182-9878AA38090A}"/>
              </a:ext>
            </a:extLst>
          </p:cNvPr>
          <p:cNvSpPr txBox="1">
            <a:spLocks/>
          </p:cNvSpPr>
          <p:nvPr/>
        </p:nvSpPr>
        <p:spPr>
          <a:xfrm>
            <a:off x="119336" y="980728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8DB635-6B36-4A88-9FF1-30B49733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2948111"/>
          </a:xfrm>
        </p:spPr>
        <p:txBody>
          <a:bodyPr/>
          <a:lstStyle/>
          <a:p>
            <a:r>
              <a:rPr lang="ko-KR" altLang="en-US" dirty="0"/>
              <a:t>문제 해결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문장 단위 정제 및 중복 제거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모델 응답을 문장 단위로 분리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각 문장에 대해 불필요한 공백 제거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특정 반복 구문 정리 등 기본적인 정제 수행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marL="432000" lvl="1" indent="0">
              <a:buNone/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(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clean_sentece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함수 활용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)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정제된 문장들 간의 유사도를 계산하여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일정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임계값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(=0.85)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이상의 유사도를 가진 문장이 이미 처리된 문장 목록에 있을 경우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해당 문장을 제거하여 내용의 반복 및 중복을 방지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marL="432000" lvl="1" indent="0">
              <a:buNone/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(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is_similar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함수 활용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5047C3-B480-4E1E-BA9A-F631B813B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3879139"/>
            <a:ext cx="5832648" cy="26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0070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20953-CC47-101C-09B0-5DBF270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문제점 및 해결 방법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87F53EFB-732C-75DE-3182-9878AA38090A}"/>
              </a:ext>
            </a:extLst>
          </p:cNvPr>
          <p:cNvSpPr txBox="1">
            <a:spLocks/>
          </p:cNvSpPr>
          <p:nvPr/>
        </p:nvSpPr>
        <p:spPr>
          <a:xfrm>
            <a:off x="119336" y="980728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8DB635-6B36-4A88-9FF1-30B49733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2948111"/>
          </a:xfrm>
        </p:spPr>
        <p:txBody>
          <a:bodyPr/>
          <a:lstStyle/>
          <a:p>
            <a:r>
              <a:rPr lang="ko-KR" altLang="en-US" dirty="0"/>
              <a:t>문제 해결 방법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응답 형식화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중복이 제거되고 정제된 문장들을 바탕으로 사용자 가독성을 높이기 위한 형식화를 적용</a:t>
            </a:r>
            <a:endParaRPr lang="en-US" altLang="ko-KR" b="0" i="0" dirty="0">
              <a:solidFill>
                <a:srgbClr val="090909"/>
              </a:solidFill>
              <a:effectLst/>
              <a:latin typeface="Pretendard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각 문장을 특정 최대 줄 길이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(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예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: 80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자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)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에 맞춰 자동으로 </a:t>
            </a:r>
            <a:r>
              <a:rPr lang="ko-KR" altLang="en-US" b="0" i="0" dirty="0" err="1">
                <a:solidFill>
                  <a:srgbClr val="090909"/>
                </a:solidFill>
                <a:effectLst/>
                <a:latin typeface="Pretendard"/>
              </a:rPr>
              <a:t>줄바꿈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(word wrapping) 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처리</a:t>
            </a:r>
            <a:endParaRPr lang="en-US" altLang="ko-KR" b="0" i="0" dirty="0">
              <a:solidFill>
                <a:srgbClr val="090909"/>
              </a:solidFill>
              <a:effectLst/>
              <a:latin typeface="Pretendard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각 문장 앞에 글머리 기호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(•)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를 추가하여 목록 형태로 표시함으로써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,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 내용 구분을 명확히 하고 시각적인 가독성을 향상시킴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(</a:t>
            </a:r>
            <a:r>
              <a:rPr lang="en-US" altLang="ko-KR" b="0" i="0" dirty="0" err="1">
                <a:solidFill>
                  <a:srgbClr val="090909"/>
                </a:solidFill>
                <a:effectLst/>
                <a:latin typeface="Pretendard"/>
              </a:rPr>
              <a:t>format_paragraphs</a:t>
            </a: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함수 활용</a:t>
            </a:r>
            <a:r>
              <a:rPr lang="en-US" altLang="ko-KR" b="0" i="0" dirty="0">
                <a:solidFill>
                  <a:srgbClr val="090909"/>
                </a:solidFill>
                <a:effectLst/>
                <a:latin typeface="Pretendard"/>
              </a:rPr>
              <a:t>)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DCA3F5-1B44-40FC-B30E-8A29BC7B6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53" y="3212976"/>
            <a:ext cx="622069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1759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20953-CC47-101C-09B0-5DBF270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문제점 및 해결 방법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87F53EFB-732C-75DE-3182-9878AA38090A}"/>
              </a:ext>
            </a:extLst>
          </p:cNvPr>
          <p:cNvSpPr txBox="1">
            <a:spLocks/>
          </p:cNvSpPr>
          <p:nvPr/>
        </p:nvSpPr>
        <p:spPr>
          <a:xfrm>
            <a:off x="119336" y="980728"/>
            <a:ext cx="11752906" cy="196572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8DB635-6B36-4A88-9FF1-30B49733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1" y="912937"/>
            <a:ext cx="11752906" cy="2948111"/>
          </a:xfrm>
        </p:spPr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해결 결과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중복 및 반복 제거</a:t>
            </a:r>
            <a:endParaRPr lang="en-US" altLang="ko-KR" b="0" i="0" dirty="0">
              <a:solidFill>
                <a:srgbClr val="090909"/>
              </a:solidFill>
              <a:effectLst/>
              <a:latin typeface="Pretendard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90909"/>
                </a:solidFill>
                <a:latin typeface="Pretendard"/>
              </a:rPr>
              <a:t>명확한 구조와 가독성 향상</a:t>
            </a:r>
            <a:endParaRPr lang="en-US" altLang="ko-KR" dirty="0">
              <a:solidFill>
                <a:srgbClr val="090909"/>
              </a:solidFill>
              <a:latin typeface="Pretendard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90909"/>
                </a:solidFill>
                <a:latin typeface="Pretendard"/>
              </a:rPr>
              <a:t>불필요한 문장 제거 및 핵심 내용 중심</a:t>
            </a:r>
            <a:endParaRPr lang="en-US" altLang="ko-KR" dirty="0">
              <a:solidFill>
                <a:srgbClr val="090909"/>
              </a:solidFill>
              <a:latin typeface="Pretendard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090909"/>
                </a:solidFill>
                <a:effectLst/>
                <a:latin typeface="Pretendard"/>
              </a:rPr>
              <a:t>전반적인 응답 품질 개선</a:t>
            </a:r>
            <a:endParaRPr lang="en-US" altLang="ko-KR" b="0" i="0" dirty="0">
              <a:solidFill>
                <a:srgbClr val="090909"/>
              </a:solidFill>
              <a:effectLst/>
              <a:latin typeface="Pretendar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3853BA-9DA5-4B84-A1EB-39D4D36C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7648"/>
            <a:ext cx="5573301" cy="18823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46A6C9-3BEB-42F8-AFFF-E24CB6ED7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247" y="3356992"/>
            <a:ext cx="5184063" cy="3165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B0FDB8-B2B3-42F0-B143-6D28C0D14556}"/>
              </a:ext>
            </a:extLst>
          </p:cNvPr>
          <p:cNvSpPr txBox="1"/>
          <p:nvPr/>
        </p:nvSpPr>
        <p:spPr>
          <a:xfrm>
            <a:off x="5690179" y="463799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81002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F7CC2-7F18-C2B8-3E55-752E247F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CAA27-4DA8-54BC-6629-4DD30163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63" y="780865"/>
            <a:ext cx="7613650" cy="1866901"/>
          </a:xfrm>
        </p:spPr>
        <p:txBody>
          <a:bodyPr anchor="ctr" anchorCtr="0"/>
          <a:lstStyle/>
          <a:p>
            <a:pPr lvl="0" algn="r">
              <a:defRPr/>
            </a:pPr>
            <a:r>
              <a:rPr lang="en-US" altLang="ko-KR" dirty="0">
                <a:latin typeface="+mj-ea"/>
              </a:rPr>
              <a:t>6. </a:t>
            </a:r>
            <a:r>
              <a:rPr lang="ko-KR" altLang="en-US" dirty="0">
                <a:latin typeface="+mj-ea"/>
              </a:rPr>
              <a:t>진행상황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CE0EE-70E7-B1E5-B9C8-24AA84D2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6" y="4797152"/>
            <a:ext cx="7613650" cy="1844948"/>
          </a:xfrm>
        </p:spPr>
        <p:txBody>
          <a:bodyPr>
            <a:normAutofit/>
          </a:bodyPr>
          <a:lstStyle/>
          <a:p>
            <a:pPr marL="342900" lvl="0" indent="-342900">
              <a:buFont typeface="Wingdings"/>
              <a:buChar char="§"/>
              <a:defRPr/>
            </a:pPr>
            <a:r>
              <a:rPr lang="ko-KR" altLang="en-US" dirty="0">
                <a:latin typeface="나눔바른고딕OTF"/>
                <a:ea typeface="나눔바른고딕OTF"/>
              </a:rPr>
              <a:t>최종 실험 방법</a:t>
            </a:r>
            <a:endParaRPr lang="en-US" altLang="ko-KR" dirty="0">
              <a:latin typeface="나눔바른고딕OTF"/>
              <a:ea typeface="나눔바른고딕OTF"/>
            </a:endParaRPr>
          </a:p>
          <a:p>
            <a:pPr marL="342900" lvl="0" indent="-342900">
              <a:buFont typeface="Wingdings"/>
              <a:buChar char="§"/>
              <a:defRPr/>
            </a:pPr>
            <a:r>
              <a:rPr lang="ko-KR" altLang="en-US" dirty="0">
                <a:latin typeface="나눔바른고딕OTF"/>
                <a:ea typeface="나눔바른고딕OTF"/>
              </a:rPr>
              <a:t>학습모델 실행 결과</a:t>
            </a:r>
          </a:p>
          <a:p>
            <a:pPr marL="0" lvl="0" indent="0">
              <a:buNone/>
              <a:defRPr/>
            </a:pPr>
            <a:endParaRPr lang="ko-KR" altLang="en-US" dirty="0">
              <a:latin typeface="나눔바른고딕OTF"/>
              <a:ea typeface="나눔바른고딕OTF"/>
            </a:endParaRPr>
          </a:p>
        </p:txBody>
      </p:sp>
    </p:spTree>
    <p:extLst>
      <p:ext uri="{BB962C8B-B14F-4D97-AF65-F5344CB8AC3E}">
        <p14:creationId xmlns:p14="http://schemas.microsoft.com/office/powerpoint/2010/main" val="153541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6AC8-D593-021D-6418-75ED2950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D3E2C7D-EB85-4F30-2BC3-37FC9845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buFont typeface="Wingdings"/>
              <a:buChar char="§"/>
              <a:defRPr/>
            </a:pPr>
            <a:r>
              <a:rPr lang="ko-KR" altLang="en-US" dirty="0">
                <a:latin typeface="나눔바른고딕OTF"/>
                <a:ea typeface="나눔바른고딕OTF"/>
              </a:rPr>
              <a:t>최종 실험 방법</a:t>
            </a:r>
            <a:endParaRPr lang="en-US" altLang="ko-KR" dirty="0">
              <a:latin typeface="나눔바른고딕OTF"/>
              <a:ea typeface="나눔바른고딕OTF"/>
            </a:endParaRPr>
          </a:p>
        </p:txBody>
      </p:sp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F56AEEC4-AA1E-AD7F-A303-DDCEA4E71826}"/>
              </a:ext>
            </a:extLst>
          </p:cNvPr>
          <p:cNvSpPr txBox="1">
            <a:spLocks/>
          </p:cNvSpPr>
          <p:nvPr/>
        </p:nvSpPr>
        <p:spPr>
          <a:xfrm>
            <a:off x="219547" y="4542226"/>
            <a:ext cx="11752906" cy="1237791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Colab</a:t>
            </a:r>
            <a:r>
              <a:rPr lang="ko-KR" altLang="en-US" dirty="0"/>
              <a:t>환경에서 저장한 모델을 불러와 테스트</a:t>
            </a:r>
            <a:endParaRPr lang="en-US" altLang="ko-KR" dirty="0"/>
          </a:p>
          <a:p>
            <a:pPr lvl="1">
              <a:defRPr/>
            </a:pPr>
            <a:r>
              <a:rPr lang="en-US" altLang="ko-KR" dirty="0" err="1"/>
              <a:t>Gradio</a:t>
            </a:r>
            <a:r>
              <a:rPr lang="en-US" altLang="ko-KR" dirty="0"/>
              <a:t> </a:t>
            </a:r>
            <a:r>
              <a:rPr lang="ko-KR" altLang="en-US" dirty="0"/>
              <a:t>패키지를 통해 </a:t>
            </a:r>
            <a:r>
              <a:rPr lang="en-US" altLang="ko-KR" dirty="0" err="1"/>
              <a:t>colab</a:t>
            </a:r>
            <a:r>
              <a:rPr lang="en-US" altLang="ko-KR" dirty="0"/>
              <a:t> </a:t>
            </a:r>
            <a:r>
              <a:rPr lang="ko-KR" altLang="en-US" dirty="0"/>
              <a:t>에서 모델 앱 </a:t>
            </a:r>
            <a:r>
              <a:rPr lang="en-US" altLang="ko-KR" dirty="0" err="1"/>
              <a:t>ui</a:t>
            </a:r>
            <a:r>
              <a:rPr lang="ko-KR" altLang="en-US" dirty="0" err="1"/>
              <a:t>를</a:t>
            </a:r>
            <a:r>
              <a:rPr lang="ko-KR" altLang="en-US" dirty="0"/>
              <a:t> 만들어 실제로 시현해보는 과정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법률상담에 관한 질문을 </a:t>
            </a:r>
            <a:r>
              <a:rPr lang="ko-KR" altLang="en-US" dirty="0" err="1"/>
              <a:t>하였을때</a:t>
            </a:r>
            <a:r>
              <a:rPr lang="ko-KR" altLang="en-US" dirty="0"/>
              <a:t> 실제 답변이 어떻게 나오는지 예측할 수 있다</a:t>
            </a:r>
            <a:r>
              <a:rPr lang="en-US" altLang="ko-KR" dirty="0"/>
              <a:t>.</a:t>
            </a:r>
          </a:p>
        </p:txBody>
      </p:sp>
      <p:sp>
        <p:nvSpPr>
          <p:cNvPr id="13" name="내용 개체 틀 1">
            <a:extLst>
              <a:ext uri="{FF2B5EF4-FFF2-40B4-BE49-F238E27FC236}">
                <a16:creationId xmlns:a16="http://schemas.microsoft.com/office/drawing/2014/main" id="{87618CA1-7F8D-238E-0E3A-912615D7C73A}"/>
              </a:ext>
            </a:extLst>
          </p:cNvPr>
          <p:cNvSpPr txBox="1">
            <a:spLocks/>
          </p:cNvSpPr>
          <p:nvPr/>
        </p:nvSpPr>
        <p:spPr>
          <a:xfrm>
            <a:off x="209878" y="1077983"/>
            <a:ext cx="11752906" cy="3215113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학습 완료된 모델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학습 데이터셋</a:t>
            </a:r>
            <a:r>
              <a:rPr lang="en-US" altLang="ko-KR" dirty="0"/>
              <a:t>: </a:t>
            </a:r>
            <a:r>
              <a:rPr lang="ko-KR" altLang="en-US" dirty="0"/>
              <a:t>민법관련 질문</a:t>
            </a:r>
            <a:r>
              <a:rPr lang="en-US" altLang="ko-KR" dirty="0"/>
              <a:t>, </a:t>
            </a:r>
            <a:r>
              <a:rPr lang="ko-KR" altLang="en-US" dirty="0"/>
              <a:t>답변 법률 상담 데이터셋 </a:t>
            </a:r>
            <a:r>
              <a:rPr lang="en-US" altLang="ko-KR" dirty="0"/>
              <a:t>53,480</a:t>
            </a:r>
            <a:r>
              <a:rPr lang="ko-KR" altLang="en-US" dirty="0"/>
              <a:t>건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학습의 사용된 </a:t>
            </a:r>
            <a:r>
              <a:rPr lang="en-US" altLang="ko-KR" dirty="0"/>
              <a:t>LLM</a:t>
            </a:r>
            <a:r>
              <a:rPr lang="ko-KR" altLang="en-US" dirty="0"/>
              <a:t>모델</a:t>
            </a:r>
            <a:r>
              <a:rPr lang="en-US" altLang="ko-KR" dirty="0"/>
              <a:t>: Llama3.1 8B</a:t>
            </a:r>
          </a:p>
          <a:p>
            <a:pPr lvl="1">
              <a:defRPr/>
            </a:pPr>
            <a:r>
              <a:rPr lang="ko-KR" altLang="en-US" dirty="0"/>
              <a:t>학습 파라미터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/>
              <a:t>Learning_rate</a:t>
            </a:r>
            <a:r>
              <a:rPr lang="en-US" altLang="ko-KR" dirty="0"/>
              <a:t>: 1.5e-5</a:t>
            </a:r>
          </a:p>
          <a:p>
            <a:pPr lvl="2">
              <a:defRPr/>
            </a:pPr>
            <a:r>
              <a:rPr lang="en-US" altLang="ko-KR" dirty="0" err="1"/>
              <a:t>Batch_size</a:t>
            </a:r>
            <a:r>
              <a:rPr lang="en-US" altLang="ko-KR" dirty="0"/>
              <a:t>: 32</a:t>
            </a:r>
          </a:p>
          <a:p>
            <a:pPr lvl="2">
              <a:defRPr/>
            </a:pPr>
            <a:r>
              <a:rPr lang="en-US" altLang="ko-KR" dirty="0"/>
              <a:t>Epoch: 1</a:t>
            </a:r>
          </a:p>
          <a:p>
            <a:pPr lvl="2">
              <a:defRPr/>
            </a:pPr>
            <a:r>
              <a:rPr lang="en-US" altLang="ko-KR" dirty="0"/>
              <a:t>Training Step : 500</a:t>
            </a:r>
          </a:p>
        </p:txBody>
      </p:sp>
    </p:spTree>
    <p:extLst>
      <p:ext uri="{BB962C8B-B14F-4D97-AF65-F5344CB8AC3E}">
        <p14:creationId xmlns:p14="http://schemas.microsoft.com/office/powerpoint/2010/main" val="376368998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607729B-B5AA-2588-BBBC-BBD570A9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바른고딕OTF"/>
                <a:ea typeface="나눔바른고딕OTF"/>
              </a:rPr>
              <a:t>최종 실험 방법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B57D77-64F9-3F72-854B-205F89C4D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1056772"/>
            <a:ext cx="6408975" cy="1867062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ACC712-96A4-17A3-11A1-14CD0F31E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3116256"/>
            <a:ext cx="6370872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8338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9576-97F1-C8AF-1F5F-805CBA43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E59E03B-B4B1-EF1F-5CD6-027728A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바른고딕OTF"/>
                <a:ea typeface="나눔바른고딕OTF"/>
              </a:rPr>
              <a:t>최종 실험 방법</a:t>
            </a:r>
            <a:endParaRPr lang="ko-KR" altLang="en-US" dirty="0"/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0BFB60A-B2B5-E1DA-0BCF-88ED5A83E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23" y="1484784"/>
            <a:ext cx="6401355" cy="2019475"/>
          </a:xfrm>
          <a:prstGeom prst="rect">
            <a:avLst/>
          </a:prstGeom>
        </p:spPr>
      </p:pic>
      <p:pic>
        <p:nvPicPr>
          <p:cNvPr id="6" name="그림 5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EDC855-A2D6-9326-2AB1-14B29A4CB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3781051"/>
            <a:ext cx="6271803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6784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06532-700E-B07C-0525-868AEC7C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91D857-B1BB-517E-AB95-9C6DF9BA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바른고딕OTF"/>
                <a:ea typeface="나눔바른고딕OTF"/>
              </a:rPr>
              <a:t>최종 실험 방법</a:t>
            </a:r>
            <a:endParaRPr lang="ko-KR" altLang="en-US" dirty="0"/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50E91FA-626A-A78A-4CA1-97EB83766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0555"/>
            <a:ext cx="5646846" cy="1678611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0C1245-41A3-26EC-2CAE-003A4E1BA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600" y="980728"/>
            <a:ext cx="6140400" cy="3376491"/>
          </a:xfrm>
          <a:prstGeom prst="rect">
            <a:avLst/>
          </a:prstGeom>
        </p:spPr>
      </p:pic>
      <p:pic>
        <p:nvPicPr>
          <p:cNvPr id="8" name="그림 7" descr="텍스트, 폰트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59BB979-072D-4628-EBB3-AB1732EA7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0" y="4509093"/>
            <a:ext cx="6023896" cy="180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9706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F5E074D-43DA-9E01-2098-E7689233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일정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DD09B44-C5AB-F237-31DE-EFC128A6BDD8}"/>
              </a:ext>
            </a:extLst>
          </p:cNvPr>
          <p:cNvSpPr>
            <a:spLocks noGrp="1"/>
          </p:cNvSpPr>
          <p:nvPr/>
        </p:nvSpPr>
        <p:spPr>
          <a:xfrm>
            <a:off x="219547" y="1702916"/>
            <a:ext cx="11752906" cy="3452167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558900" indent="-3429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SzPct val="120000"/>
              <a:buFontTx/>
              <a:buBlip>
                <a:blip r:embed="rId2"/>
              </a:buBlip>
              <a:defRPr sz="2000" b="1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4000" indent="-25200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SzPct val="80000"/>
              <a:buFont typeface="Wingdings"/>
              <a:buChar char="l"/>
              <a:defRPr sz="2000" kern="1200" baseline="0">
                <a:solidFill>
                  <a:srgbClr val="7030A0"/>
                </a:solidFill>
                <a:latin typeface="+mj-lt"/>
                <a:ea typeface="+mj-ea"/>
                <a:cs typeface="+mn-cs"/>
              </a:defRPr>
            </a:lvl2pPr>
            <a:lvl3pPr marL="936000" indent="-285750" algn="l" defTabSz="914400" rtl="0" eaLnBrk="1" latinLnBrk="1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SzPct val="120000"/>
              <a:buFont typeface="나눔바른고딕OTF Light"/>
              <a:buChar char="-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26000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500"/>
              </a:spcAft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725750" indent="-285750" algn="l" defTabSz="914400" rtl="0" eaLnBrk="1" latinLnBrk="1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ts val="1000"/>
              </a:lnSpc>
              <a:spcBef>
                <a:spcPts val="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Llama3.1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모델의 학습 최적화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더 좋은 답변으로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ChatGPT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와 같은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AI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사이트 처럼 대화를 자연스럽게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이어나가거나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깔끔한 답변을 제시하면서 법률상담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AI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를 더 사용하기 편하게 만들 예정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0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향후 계획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웹페이지를 제작하여 사용자의 법률상담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ai 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이용을 위한 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ui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시각화 작업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css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, html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등을 이용하여 </a:t>
            </a:r>
            <a:r>
              <a:rPr lang="en-US" altLang="ko-KR" dirty="0" err="1">
                <a:solidFill>
                  <a:srgbClr val="000000"/>
                </a:solidFill>
                <a:latin typeface="맑은 고딕"/>
              </a:rPr>
              <a:t>ui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</a:rPr>
              <a:t>를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 설계하고 사용자가 이용할 수 있도록 디자인</a:t>
            </a:r>
            <a:endParaRPr lang="en-US" altLang="ko-KR" dirty="0">
              <a:solidFill>
                <a:srgbClr val="000000"/>
              </a:solidFill>
              <a:latin typeface="맑은 고딕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법률상담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ai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모델을 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import</a:t>
            </a:r>
            <a:r>
              <a:rPr lang="ko-KR" altLang="en-US" dirty="0">
                <a:solidFill>
                  <a:srgbClr val="000000"/>
                </a:solidFill>
                <a:latin typeface="맑은 고딕"/>
              </a:rPr>
              <a:t>하여 바로 적용될 수 있도록 제작</a:t>
            </a:r>
          </a:p>
        </p:txBody>
      </p:sp>
    </p:spTree>
    <p:extLst>
      <p:ext uri="{BB962C8B-B14F-4D97-AF65-F5344CB8AC3E}">
        <p14:creationId xmlns:p14="http://schemas.microsoft.com/office/powerpoint/2010/main" val="20879178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2069</Words>
  <Application>Microsoft Office PowerPoint</Application>
  <PresentationFormat>와이드스크린</PresentationFormat>
  <Paragraphs>313</Paragraphs>
  <Slides>41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2" baseType="lpstr">
      <vt:lpstr>Pretendard</vt:lpstr>
      <vt:lpstr>ui-sans-serif</vt:lpstr>
      <vt:lpstr>굴림</vt:lpstr>
      <vt:lpstr>나눔바른고딕OTF</vt:lpstr>
      <vt:lpstr>나눔바른고딕OTF Light</vt:lpstr>
      <vt:lpstr>맑은 고딕</vt:lpstr>
      <vt:lpstr>맑은 고딕</vt:lpstr>
      <vt:lpstr>Arial</vt:lpstr>
      <vt:lpstr>Roboto</vt:lpstr>
      <vt:lpstr>Wingdings</vt:lpstr>
      <vt:lpstr>Office 테마</vt:lpstr>
      <vt:lpstr>법률상담 AI</vt:lpstr>
      <vt:lpstr>1. 작품 개요 </vt:lpstr>
      <vt:lpstr>작품 소개</vt:lpstr>
      <vt:lpstr>작품 소개</vt:lpstr>
      <vt:lpstr>개발 및 실행 환경</vt:lpstr>
      <vt:lpstr>개발 적용 기술</vt:lpstr>
      <vt:lpstr>개발 적용 기술</vt:lpstr>
      <vt:lpstr>개발 업무 분장</vt:lpstr>
      <vt:lpstr>2. 학습 데이터 구축 </vt:lpstr>
      <vt:lpstr>학습데이터 구축</vt:lpstr>
      <vt:lpstr>학습데이터 구축</vt:lpstr>
      <vt:lpstr>학습 데이터 설계</vt:lpstr>
      <vt:lpstr>학습데이터 구축 </vt:lpstr>
      <vt:lpstr>학습데이터 구축 </vt:lpstr>
      <vt:lpstr>진행현황 및 향후 계획</vt:lpstr>
      <vt:lpstr>3. 모델 아키텍처</vt:lpstr>
      <vt:lpstr>모델 개요</vt:lpstr>
      <vt:lpstr>아키텍처 특징 및 구성</vt:lpstr>
      <vt:lpstr>모델 아키텍처</vt:lpstr>
      <vt:lpstr>진행현황 및 향후 계획</vt:lpstr>
      <vt:lpstr>4. 모델의 훈련 및 검증</vt:lpstr>
      <vt:lpstr>Llama3.1 학습 데이터셋 및 학습방법</vt:lpstr>
      <vt:lpstr>모델 실험 과정</vt:lpstr>
      <vt:lpstr>모델 실험 과정</vt:lpstr>
      <vt:lpstr>훈련 방법 및 훈련 시간</vt:lpstr>
      <vt:lpstr>학습결과</vt:lpstr>
      <vt:lpstr>학습결과</vt:lpstr>
      <vt:lpstr>학습 문제점</vt:lpstr>
      <vt:lpstr>진행현황 및 향후계획</vt:lpstr>
      <vt:lpstr>5. 학습 문제점 및 해결 방법 </vt:lpstr>
      <vt:lpstr>학습 문제점 및 해결 방법</vt:lpstr>
      <vt:lpstr>학습 문제점 및 해결 방법</vt:lpstr>
      <vt:lpstr>학습 문제점 및 해결 방법</vt:lpstr>
      <vt:lpstr>학습 문제점 및 해결 방법</vt:lpstr>
      <vt:lpstr>학습 문제점 및 해결 방법</vt:lpstr>
      <vt:lpstr>6. 진행상황</vt:lpstr>
      <vt:lpstr>최종 실험 방법</vt:lpstr>
      <vt:lpstr>최종 실험 방법</vt:lpstr>
      <vt:lpstr>최종 실험 방법</vt:lpstr>
      <vt:lpstr>최종 실험 방법</vt:lpstr>
      <vt:lpstr>향후 일정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생활 속의 반도체</dc:title>
  <dc:creator>User</dc:creator>
  <cp:lastModifiedBy>김민석</cp:lastModifiedBy>
  <cp:revision>1111</cp:revision>
  <dcterms:created xsi:type="dcterms:W3CDTF">2021-07-06T04:05:08Z</dcterms:created>
  <dcterms:modified xsi:type="dcterms:W3CDTF">2025-05-31T12:39:36Z</dcterms:modified>
  <cp:version/>
</cp:coreProperties>
</file>